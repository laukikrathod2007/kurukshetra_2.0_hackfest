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플라워" charset="1" panose="02020603020101020101"/>
      <p:regular r:id="rId15"/>
    </p:embeddedFont>
    <p:embeddedFont>
      <p:font typeface="Times New Roman Bold" charset="1" panose="02020803070505020304"/>
      <p:regular r:id="rId16"/>
    </p:embeddedFont>
    <p:embeddedFont>
      <p:font typeface="Cambria Bold" charset="1" panose="02040803050406030204"/>
      <p:regular r:id="rId17"/>
    </p:embeddedFon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Aptos" charset="1" panose="020B00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https://www.npci.org.in" TargetMode="External" Type="http://schemas.openxmlformats.org/officeDocument/2006/relationships/hyperlink"/><Relationship Id="rId5" Target="https://www.rbi.org.in" TargetMode="External" Type="http://schemas.openxmlformats.org/officeDocument/2006/relationships/hyperlink"/><Relationship Id="rId6" Target="https://ieeexplore.ieee.org/Xplore/home.jsp" TargetMode="External" Type="http://schemas.openxmlformats.org/officeDocument/2006/relationships/hyperlink"/><Relationship Id="rId7" Target="https://www.cybercrime.gov.in" TargetMode="External" Type="http://schemas.openxmlformats.org/officeDocument/2006/relationships/hyperlink"/><Relationship Id="rId8" Target="https://arxiv.org/abs/2607.11707" TargetMode="External" Type="http://schemas.openxmlformats.org/officeDocument/2006/relationships/hyperlink"/><Relationship Id="rId9" Target="https://www.ftc.gov/enforcement/consumer-sentinel-network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https://github.com/Laukikrathod2007/KURUKSHETRA_2.0_HACKFEST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2664440" y="8961120"/>
            <a:ext cx="4572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0076" y="1856375"/>
            <a:ext cx="17022127" cy="34862"/>
            <a:chOff x="0" y="0"/>
            <a:chExt cx="22696170" cy="46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6170" cy="46482"/>
            </a:xfrm>
            <a:custGeom>
              <a:avLst/>
              <a:gdLst/>
              <a:ahLst/>
              <a:cxnLst/>
              <a:rect r="r" b="b" t="t" l="l"/>
              <a:pathLst>
                <a:path h="46482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46482"/>
                  </a:lnTo>
                  <a:lnTo>
                    <a:pt x="0" y="46482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0076" y="9498044"/>
            <a:ext cx="17022127" cy="28004"/>
            <a:chOff x="0" y="0"/>
            <a:chExt cx="22696170" cy="37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134500" y="-7144"/>
            <a:ext cx="4709713" cy="10301288"/>
            <a:chOff x="0" y="0"/>
            <a:chExt cx="6279617" cy="13735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79617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6279617">
                  <a:moveTo>
                    <a:pt x="0" y="0"/>
                  </a:moveTo>
                  <a:lnTo>
                    <a:pt x="6279617" y="0"/>
                  </a:lnTo>
                  <a:lnTo>
                    <a:pt x="6279617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21110C"/>
            </a:solidFill>
            <a:ln w="14288" cap="sq">
              <a:solidFill>
                <a:srgbClr val="21110C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16518" y="518398"/>
            <a:ext cx="5817870" cy="107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spc="19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KURUKSHETRA 2.0</a:t>
            </a:r>
            <a:r>
              <a:rPr lang="en-US" sz="6600" spc="19">
                <a:solidFill>
                  <a:srgbClr val="000000"/>
                </a:solidFill>
                <a:latin typeface="플라워"/>
                <a:ea typeface="플라워"/>
                <a:cs typeface="플라워"/>
                <a:sym typeface="플라워"/>
              </a:rPr>
              <a:t>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6518" y="1214914"/>
            <a:ext cx="3692604" cy="70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12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HACKFEST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514" y="2879012"/>
            <a:ext cx="9730248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Problem ID : PS09</a:t>
            </a:r>
          </a:p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:  - Agentic Guardian for Real-Time Payment Scam Interception</a:t>
            </a:r>
          </a:p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Theme : AIML </a:t>
            </a:r>
          </a:p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Team ID : KH051</a:t>
            </a:r>
          </a:p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Team name : Midnight Ciphers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34500" y="553029"/>
            <a:ext cx="4065870" cy="103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</a:pPr>
            <a:r>
              <a:rPr lang="en-US" b="true" sz="4409">
                <a:solidFill>
                  <a:srgbClr val="F5EB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5291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519762" y="1754014"/>
            <a:ext cx="7229475" cy="7043738"/>
            <a:chOff x="0" y="0"/>
            <a:chExt cx="9639300" cy="9391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39300" cy="9391650"/>
            </a:xfrm>
            <a:custGeom>
              <a:avLst/>
              <a:gdLst/>
              <a:ahLst/>
              <a:cxnLst/>
              <a:rect r="r" b="b" t="t" l="l"/>
              <a:pathLst>
                <a:path h="9391650" w="9639300">
                  <a:moveTo>
                    <a:pt x="0" y="0"/>
                  </a:moveTo>
                  <a:lnTo>
                    <a:pt x="9639300" y="0"/>
                  </a:lnTo>
                  <a:lnTo>
                    <a:pt x="9639300" y="9391650"/>
                  </a:lnTo>
                  <a:lnTo>
                    <a:pt x="0" y="939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0076" y="9498044"/>
            <a:ext cx="17022127" cy="28004"/>
            <a:chOff x="0" y="0"/>
            <a:chExt cx="22696170" cy="373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737857" y="35719"/>
            <a:ext cx="1422126" cy="1418170"/>
            <a:chOff x="0" y="0"/>
            <a:chExt cx="3424238" cy="3414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4301" cy="3414776"/>
            </a:xfrm>
            <a:custGeom>
              <a:avLst/>
              <a:gdLst/>
              <a:ahLst/>
              <a:cxnLst/>
              <a:rect r="r" b="b" t="t" l="l"/>
              <a:pathLst>
                <a:path h="3414776" w="3424301">
                  <a:moveTo>
                    <a:pt x="0" y="0"/>
                  </a:moveTo>
                  <a:lnTo>
                    <a:pt x="3424301" y="0"/>
                  </a:lnTo>
                  <a:lnTo>
                    <a:pt x="3424301" y="3414776"/>
                  </a:lnTo>
                  <a:lnTo>
                    <a:pt x="0" y="3414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75" t="0" r="-1173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39828" y="571500"/>
            <a:ext cx="9572625" cy="3960502"/>
            <a:chOff x="0" y="0"/>
            <a:chExt cx="12763500" cy="5280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3500" cy="5280671"/>
            </a:xfrm>
            <a:custGeom>
              <a:avLst/>
              <a:gdLst/>
              <a:ahLst/>
              <a:cxnLst/>
              <a:rect r="r" b="b" t="t" l="l"/>
              <a:pathLst>
                <a:path h="5280671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5280671"/>
                  </a:lnTo>
                  <a:lnTo>
                    <a:pt x="0" y="52806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7" r="0" b="348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3500" cy="5290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F5EBD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`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8779" y="1453888"/>
            <a:ext cx="17288542" cy="2099276"/>
            <a:chOff x="0" y="0"/>
            <a:chExt cx="4553361" cy="552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53361" cy="552896"/>
            </a:xfrm>
            <a:custGeom>
              <a:avLst/>
              <a:gdLst/>
              <a:ahLst/>
              <a:cxnLst/>
              <a:rect r="r" b="b" t="t" l="l"/>
              <a:pathLst>
                <a:path h="552896" w="4553361">
                  <a:moveTo>
                    <a:pt x="6717" y="0"/>
                  </a:moveTo>
                  <a:lnTo>
                    <a:pt x="4546644" y="0"/>
                  </a:lnTo>
                  <a:cubicBezTo>
                    <a:pt x="4550354" y="0"/>
                    <a:pt x="4553361" y="3007"/>
                    <a:pt x="4553361" y="6717"/>
                  </a:cubicBezTo>
                  <a:lnTo>
                    <a:pt x="4553361" y="546179"/>
                  </a:lnTo>
                  <a:cubicBezTo>
                    <a:pt x="4553361" y="547960"/>
                    <a:pt x="4552653" y="549669"/>
                    <a:pt x="4551394" y="550928"/>
                  </a:cubicBezTo>
                  <a:cubicBezTo>
                    <a:pt x="4550134" y="552188"/>
                    <a:pt x="4548425" y="552896"/>
                    <a:pt x="4546644" y="552896"/>
                  </a:cubicBezTo>
                  <a:lnTo>
                    <a:pt x="6717" y="552896"/>
                  </a:lnTo>
                  <a:cubicBezTo>
                    <a:pt x="4936" y="552896"/>
                    <a:pt x="3227" y="552188"/>
                    <a:pt x="1967" y="550928"/>
                  </a:cubicBezTo>
                  <a:cubicBezTo>
                    <a:pt x="708" y="549669"/>
                    <a:pt x="0" y="547960"/>
                    <a:pt x="0" y="546179"/>
                  </a:cubicBezTo>
                  <a:lnTo>
                    <a:pt x="0" y="6717"/>
                  </a:lnTo>
                  <a:cubicBezTo>
                    <a:pt x="0" y="4936"/>
                    <a:pt x="708" y="3227"/>
                    <a:pt x="1967" y="1967"/>
                  </a:cubicBezTo>
                  <a:cubicBezTo>
                    <a:pt x="3227" y="708"/>
                    <a:pt x="4936" y="0"/>
                    <a:pt x="6717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553361" cy="55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146893" y="9568339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2940" y="9568339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8779" y="3829711"/>
            <a:ext cx="8246721" cy="5428589"/>
            <a:chOff x="0" y="0"/>
            <a:chExt cx="2171976" cy="1429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1976" cy="1429752"/>
            </a:xfrm>
            <a:custGeom>
              <a:avLst/>
              <a:gdLst/>
              <a:ahLst/>
              <a:cxnLst/>
              <a:rect r="r" b="b" t="t" l="l"/>
              <a:pathLst>
                <a:path h="1429752" w="2171976">
                  <a:moveTo>
                    <a:pt x="14082" y="0"/>
                  </a:moveTo>
                  <a:lnTo>
                    <a:pt x="2157894" y="0"/>
                  </a:lnTo>
                  <a:cubicBezTo>
                    <a:pt x="2161629" y="0"/>
                    <a:pt x="2165211" y="1484"/>
                    <a:pt x="2167851" y="4124"/>
                  </a:cubicBezTo>
                  <a:cubicBezTo>
                    <a:pt x="2170492" y="6765"/>
                    <a:pt x="2171976" y="10347"/>
                    <a:pt x="2171976" y="14082"/>
                  </a:cubicBezTo>
                  <a:lnTo>
                    <a:pt x="2171976" y="1415670"/>
                  </a:lnTo>
                  <a:cubicBezTo>
                    <a:pt x="2171976" y="1423447"/>
                    <a:pt x="2165671" y="1429752"/>
                    <a:pt x="2157894" y="1429752"/>
                  </a:cubicBezTo>
                  <a:lnTo>
                    <a:pt x="14082" y="1429752"/>
                  </a:lnTo>
                  <a:cubicBezTo>
                    <a:pt x="6305" y="1429752"/>
                    <a:pt x="0" y="1423447"/>
                    <a:pt x="0" y="1415670"/>
                  </a:cubicBezTo>
                  <a:lnTo>
                    <a:pt x="0" y="14082"/>
                  </a:lnTo>
                  <a:cubicBezTo>
                    <a:pt x="0" y="6305"/>
                    <a:pt x="6305" y="0"/>
                    <a:pt x="14082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71976" cy="1429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186840" y="431181"/>
            <a:ext cx="896112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F5EBD2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60123" y="3829711"/>
            <a:ext cx="8672081" cy="5456383"/>
            <a:chOff x="0" y="0"/>
            <a:chExt cx="2284005" cy="1437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4005" cy="1437072"/>
            </a:xfrm>
            <a:custGeom>
              <a:avLst/>
              <a:gdLst/>
              <a:ahLst/>
              <a:cxnLst/>
              <a:rect r="r" b="b" t="t" l="l"/>
              <a:pathLst>
                <a:path h="1437072" w="2284005">
                  <a:moveTo>
                    <a:pt x="13391" y="0"/>
                  </a:moveTo>
                  <a:lnTo>
                    <a:pt x="2270614" y="0"/>
                  </a:lnTo>
                  <a:cubicBezTo>
                    <a:pt x="2274165" y="0"/>
                    <a:pt x="2277571" y="1411"/>
                    <a:pt x="2280083" y="3922"/>
                  </a:cubicBezTo>
                  <a:cubicBezTo>
                    <a:pt x="2282594" y="6433"/>
                    <a:pt x="2284005" y="9840"/>
                    <a:pt x="2284005" y="13391"/>
                  </a:cubicBezTo>
                  <a:lnTo>
                    <a:pt x="2284005" y="1423681"/>
                  </a:lnTo>
                  <a:cubicBezTo>
                    <a:pt x="2284005" y="1427232"/>
                    <a:pt x="2282594" y="1430639"/>
                    <a:pt x="2280083" y="1433150"/>
                  </a:cubicBezTo>
                  <a:cubicBezTo>
                    <a:pt x="2277571" y="1435661"/>
                    <a:pt x="2274165" y="1437072"/>
                    <a:pt x="2270614" y="1437072"/>
                  </a:cubicBezTo>
                  <a:lnTo>
                    <a:pt x="13391" y="1437072"/>
                  </a:lnTo>
                  <a:cubicBezTo>
                    <a:pt x="5995" y="1437072"/>
                    <a:pt x="0" y="1431077"/>
                    <a:pt x="0" y="1423681"/>
                  </a:cubicBezTo>
                  <a:lnTo>
                    <a:pt x="0" y="13391"/>
                  </a:lnTo>
                  <a:cubicBezTo>
                    <a:pt x="0" y="9840"/>
                    <a:pt x="1411" y="6433"/>
                    <a:pt x="3922" y="3922"/>
                  </a:cubicBezTo>
                  <a:cubicBezTo>
                    <a:pt x="6433" y="1411"/>
                    <a:pt x="9840" y="0"/>
                    <a:pt x="13391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84005" cy="1437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688372" y="3838575"/>
            <a:ext cx="601432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Who It Affects</a:t>
            </a:r>
          </a:p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-420097" y="3902928"/>
            <a:ext cx="896112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Analysis / Background</a:t>
            </a:r>
          </a:p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46912" y="373142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2940" y="1381465"/>
            <a:ext cx="17144381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</a:p>
          <a:p>
            <a:pPr algn="l" marL="507364" indent="-253682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Core Issue: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payment scams are not technical hacks. They are </a:t>
            </a:r>
            <a:r>
              <a:rPr lang="en-US" b="true" sz="234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social engineering traps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where victims willingly transfer money.</a:t>
            </a:r>
          </a:p>
          <a:p>
            <a:pPr algn="l" marL="507364" indent="-253682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Catch: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Because the victim enters their own PIN from their own phone, classic bank security sees a 100% normal payment.</a:t>
            </a:r>
          </a:p>
          <a:p>
            <a:pPr algn="l" marL="507364" indent="-253682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Critical Window: 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Once sent, real-time UPI payments disappear into scam accounts within </a:t>
            </a:r>
            <a:r>
              <a:rPr lang="en-US" b="true" sz="234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30–60 seconds.</a:t>
            </a:r>
          </a:p>
          <a:p>
            <a:pPr algn="l" marL="507364" indent="-253682" lvl="1">
              <a:lnSpc>
                <a:spcPts val="2819"/>
              </a:lnSpc>
              <a:buFont typeface="Arial"/>
              <a:buChar char="•"/>
            </a:pPr>
            <a:r>
              <a:rPr lang="en-US" b="true" sz="234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Goal: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Stop the scam during the </a:t>
            </a:r>
            <a:r>
              <a:rPr lang="en-US" b="true" sz="234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2–4 seconds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before PIN entry by giving the user clear </a:t>
            </a:r>
            <a:r>
              <a:rPr lang="en-US" b="true" sz="234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facts </a:t>
            </a:r>
            <a:r>
              <a:rPr lang="en-US" sz="234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and timely </a:t>
            </a:r>
            <a:r>
              <a:rPr lang="en-US" b="true" sz="234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warnings.</a:t>
            </a:r>
          </a:p>
          <a:p>
            <a:pPr algn="ctr" marL="425291" indent="-212645" lvl="1">
              <a:lnSpc>
                <a:spcPts val="281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26595" y="4559630"/>
            <a:ext cx="7814428" cy="44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Scammers Operate: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They call or message victims pretending to be bank officials, police 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(CBI/RBI)</a:t>
            </a:r>
            <a:r>
              <a:rPr lang="en-US" b="true" sz="2097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or customer support, using fear and urgency.</a:t>
            </a:r>
          </a:p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Key Attack Types:</a:t>
            </a:r>
          </a:p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Impersonation: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Posing as CBI, RBI, or police to threaten arrest unless money is moved.</a:t>
            </a:r>
          </a:p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Suspicious Requests: 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Demanding small fees to release fake lottery wins or package deliveries.</a:t>
            </a:r>
          </a:p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Unusual Recipients: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Directing payments to brand-new accounts created days ago.</a:t>
            </a:r>
          </a:p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Urgency Pressure: 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Forcing victims to act within hours while keeping the transfer secret.</a:t>
            </a:r>
          </a:p>
          <a:p>
            <a:pPr algn="just" marL="452862" indent="-226431" lvl="1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Users &amp; Stakeholders:</a:t>
            </a:r>
            <a:r>
              <a:rPr lang="en-US" sz="2097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Retail Consumers, Payment Apps, Banks &amp; Regulators (RBI/NPCI)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5131" y="4350603"/>
            <a:ext cx="31487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b="true" sz="2250">
                <a:solidFill>
                  <a:srgbClr val="FF313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Scale </a:t>
            </a:r>
            <a:r>
              <a:rPr lang="en-US" b="true" sz="2250">
                <a:solidFill>
                  <a:srgbClr val="FF313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 the Problem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47960" y="4350603"/>
            <a:ext cx="325131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313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Current Solutions Fail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028851" y="4791075"/>
            <a:ext cx="3814341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435" indent="-241718" lvl="1">
              <a:lnSpc>
                <a:spcPts val="26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9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$15B Loss: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Projected global scam losses to reach </a:t>
            </a:r>
            <a:r>
              <a:rPr lang="en-US" b="true" sz="2239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$15B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by </a:t>
            </a:r>
            <a:r>
              <a:rPr lang="en-US" b="true" sz="2239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2028 (Deloitte).</a:t>
            </a:r>
          </a:p>
          <a:p>
            <a:pPr algn="l" marL="483435" indent="-241718" lvl="1">
              <a:lnSpc>
                <a:spcPts val="26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9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30–60 Second Drain: 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Banks have under</a:t>
            </a:r>
            <a:r>
              <a:rPr lang="en-US" b="true" sz="2239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1 minute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to stop funds before they split across fraud accounts (</a:t>
            </a:r>
            <a:r>
              <a:rPr lang="en-US" b="true" sz="2239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Fintech Fest 2026).</a:t>
            </a:r>
          </a:p>
          <a:p>
            <a:pPr algn="l" marL="483435" indent="-241718" lvl="1">
              <a:lnSpc>
                <a:spcPts val="26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39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Security Fails: 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Card security blocked</a:t>
            </a:r>
            <a:r>
              <a:rPr lang="en-US" b="true" sz="2239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$40B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in hacks, but fails on scams because the victim approves the payment</a:t>
            </a:r>
            <a:r>
              <a:rPr lang="en-US" b="true" sz="2239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(Visa)</a:t>
            </a:r>
            <a:r>
              <a:rPr lang="en-US" sz="2239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38839" y="4800600"/>
            <a:ext cx="4416108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5220" indent="-232610" lvl="1">
              <a:lnSpc>
                <a:spcPts val="25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54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Bank Security &amp; Card AI:</a:t>
            </a:r>
            <a:r>
              <a:rPr lang="en-US" sz="2154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Looks for stolen passwords or new devices both look normal in a scam.</a:t>
            </a:r>
          </a:p>
          <a:p>
            <a:pPr algn="just" marL="465220" indent="-232610" lvl="1">
              <a:lnSpc>
                <a:spcPts val="25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54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Old Rule Engines:</a:t>
            </a:r>
            <a:r>
              <a:rPr lang="en-US" sz="2154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Uses rigid rules (e.g. flag over </a:t>
            </a:r>
            <a:r>
              <a:rPr lang="en-US" b="true" sz="2154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₹50,000</a:t>
            </a:r>
            <a:r>
              <a:rPr lang="en-US" sz="2154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). Scammers bypass this by asking for </a:t>
            </a:r>
            <a:r>
              <a:rPr lang="en-US" b="true" sz="2154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₹9,999.</a:t>
            </a:r>
          </a:p>
          <a:p>
            <a:pPr algn="just" marL="465220" indent="-232610" lvl="1">
              <a:lnSpc>
                <a:spcPts val="25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54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Check Systems: </a:t>
            </a:r>
            <a:r>
              <a:rPr lang="en-US" sz="2154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Only verifies that a bank account exists, not why you are paying.</a:t>
            </a:r>
          </a:p>
          <a:p>
            <a:pPr algn="just" marL="465220" indent="-232610" lvl="1">
              <a:lnSpc>
                <a:spcPts val="25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54" strike="noStrike" u="none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Generic Warning Popups:</a:t>
            </a:r>
            <a:r>
              <a:rPr lang="en-US" sz="2154" strike="noStrike" u="none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Users get used to popups and click "OK" </a:t>
            </a:r>
            <a:r>
              <a:rPr lang="en-US" b="true" sz="2154" strike="noStrike" u="none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without reading.</a:t>
            </a:r>
          </a:p>
          <a:p>
            <a:pPr algn="just">
              <a:lnSpc>
                <a:spcPts val="258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0076" y="9498044"/>
            <a:ext cx="17022127" cy="28004"/>
            <a:chOff x="0" y="0"/>
            <a:chExt cx="22696170" cy="373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9654421" y="-7144"/>
            <a:ext cx="6227636" cy="10301288"/>
            <a:chOff x="0" y="0"/>
            <a:chExt cx="8303514" cy="13735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035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8303514">
                  <a:moveTo>
                    <a:pt x="0" y="0"/>
                  </a:moveTo>
                  <a:lnTo>
                    <a:pt x="8303514" y="0"/>
                  </a:lnTo>
                  <a:lnTo>
                    <a:pt x="83035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21110C"/>
            </a:solidFill>
            <a:ln w="14288" cap="sq">
              <a:solidFill>
                <a:srgbClr val="21110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122344" y="588855"/>
            <a:ext cx="9572625" cy="1431160"/>
            <a:chOff x="0" y="0"/>
            <a:chExt cx="12763500" cy="1908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3500" cy="1908214"/>
            </a:xfrm>
            <a:custGeom>
              <a:avLst/>
              <a:gdLst/>
              <a:ahLst/>
              <a:cxnLst/>
              <a:rect r="r" b="b" t="t" l="l"/>
              <a:pathLst>
                <a:path h="1908214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1908214"/>
                  </a:lnTo>
                  <a:lnTo>
                    <a:pt x="0" y="1908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29" r="0" b="-803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3500" cy="191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5EBD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solution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0076" y="1453888"/>
            <a:ext cx="17022127" cy="2491234"/>
            <a:chOff x="0" y="0"/>
            <a:chExt cx="4483194" cy="656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83194" cy="656128"/>
            </a:xfrm>
            <a:custGeom>
              <a:avLst/>
              <a:gdLst/>
              <a:ahLst/>
              <a:cxnLst/>
              <a:rect r="r" b="b" t="t" l="l"/>
              <a:pathLst>
                <a:path h="656128" w="4483194">
                  <a:moveTo>
                    <a:pt x="6822" y="0"/>
                  </a:moveTo>
                  <a:lnTo>
                    <a:pt x="4476372" y="0"/>
                  </a:lnTo>
                  <a:cubicBezTo>
                    <a:pt x="4480140" y="0"/>
                    <a:pt x="4483194" y="3054"/>
                    <a:pt x="4483194" y="6822"/>
                  </a:cubicBezTo>
                  <a:lnTo>
                    <a:pt x="4483194" y="649305"/>
                  </a:lnTo>
                  <a:cubicBezTo>
                    <a:pt x="4483194" y="653073"/>
                    <a:pt x="4480140" y="656128"/>
                    <a:pt x="4476372" y="656128"/>
                  </a:cubicBezTo>
                  <a:lnTo>
                    <a:pt x="6822" y="656128"/>
                  </a:lnTo>
                  <a:cubicBezTo>
                    <a:pt x="3054" y="656128"/>
                    <a:pt x="0" y="653073"/>
                    <a:pt x="0" y="649305"/>
                  </a:cubicBezTo>
                  <a:lnTo>
                    <a:pt x="0" y="6822"/>
                  </a:lnTo>
                  <a:cubicBezTo>
                    <a:pt x="0" y="3054"/>
                    <a:pt x="3054" y="0"/>
                    <a:pt x="6822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483194" cy="656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2940" y="4219695"/>
            <a:ext cx="7437940" cy="4666567"/>
            <a:chOff x="0" y="0"/>
            <a:chExt cx="1958964" cy="12290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8964" cy="1229055"/>
            </a:xfrm>
            <a:custGeom>
              <a:avLst/>
              <a:gdLst/>
              <a:ahLst/>
              <a:cxnLst/>
              <a:rect r="r" b="b" t="t" l="l"/>
              <a:pathLst>
                <a:path h="1229055" w="1958964">
                  <a:moveTo>
                    <a:pt x="15613" y="0"/>
                  </a:moveTo>
                  <a:lnTo>
                    <a:pt x="1943351" y="0"/>
                  </a:lnTo>
                  <a:cubicBezTo>
                    <a:pt x="1947492" y="0"/>
                    <a:pt x="1951463" y="1645"/>
                    <a:pt x="1954391" y="4573"/>
                  </a:cubicBezTo>
                  <a:cubicBezTo>
                    <a:pt x="1957319" y="7501"/>
                    <a:pt x="1958964" y="11472"/>
                    <a:pt x="1958964" y="15613"/>
                  </a:cubicBezTo>
                  <a:lnTo>
                    <a:pt x="1958964" y="1213442"/>
                  </a:lnTo>
                  <a:cubicBezTo>
                    <a:pt x="1958964" y="1217583"/>
                    <a:pt x="1957319" y="1221554"/>
                    <a:pt x="1954391" y="1224482"/>
                  </a:cubicBezTo>
                  <a:cubicBezTo>
                    <a:pt x="1951463" y="1227410"/>
                    <a:pt x="1947492" y="1229055"/>
                    <a:pt x="1943351" y="1229055"/>
                  </a:cubicBezTo>
                  <a:lnTo>
                    <a:pt x="15613" y="1229055"/>
                  </a:lnTo>
                  <a:cubicBezTo>
                    <a:pt x="11472" y="1229055"/>
                    <a:pt x="7501" y="1227410"/>
                    <a:pt x="4573" y="1224482"/>
                  </a:cubicBezTo>
                  <a:cubicBezTo>
                    <a:pt x="1645" y="1221554"/>
                    <a:pt x="0" y="1217583"/>
                    <a:pt x="0" y="1213442"/>
                  </a:cubicBezTo>
                  <a:lnTo>
                    <a:pt x="0" y="15613"/>
                  </a:lnTo>
                  <a:cubicBezTo>
                    <a:pt x="0" y="11472"/>
                    <a:pt x="1645" y="7501"/>
                    <a:pt x="4573" y="4573"/>
                  </a:cubicBezTo>
                  <a:cubicBezTo>
                    <a:pt x="7501" y="1645"/>
                    <a:pt x="11472" y="0"/>
                    <a:pt x="15613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958964" cy="1229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37857" y="35719"/>
            <a:ext cx="1422126" cy="1418170"/>
            <a:chOff x="0" y="0"/>
            <a:chExt cx="3424238" cy="3414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24301" cy="3414776"/>
            </a:xfrm>
            <a:custGeom>
              <a:avLst/>
              <a:gdLst/>
              <a:ahLst/>
              <a:cxnLst/>
              <a:rect r="r" b="b" t="t" l="l"/>
              <a:pathLst>
                <a:path h="3414776" w="3424301">
                  <a:moveTo>
                    <a:pt x="0" y="0"/>
                  </a:moveTo>
                  <a:lnTo>
                    <a:pt x="3424301" y="0"/>
                  </a:lnTo>
                  <a:lnTo>
                    <a:pt x="3424301" y="3414776"/>
                  </a:lnTo>
                  <a:lnTo>
                    <a:pt x="0" y="3414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5" t="0" r="-1173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87308" y="4219695"/>
            <a:ext cx="9044896" cy="4666567"/>
            <a:chOff x="0" y="0"/>
            <a:chExt cx="2382195" cy="12290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82195" cy="1229055"/>
            </a:xfrm>
            <a:custGeom>
              <a:avLst/>
              <a:gdLst/>
              <a:ahLst/>
              <a:cxnLst/>
              <a:rect r="r" b="b" t="t" l="l"/>
              <a:pathLst>
                <a:path h="1229055" w="2382195">
                  <a:moveTo>
                    <a:pt x="12839" y="0"/>
                  </a:moveTo>
                  <a:lnTo>
                    <a:pt x="2369356" y="0"/>
                  </a:lnTo>
                  <a:cubicBezTo>
                    <a:pt x="2372761" y="0"/>
                    <a:pt x="2376027" y="1353"/>
                    <a:pt x="2378434" y="3761"/>
                  </a:cubicBezTo>
                  <a:cubicBezTo>
                    <a:pt x="2380842" y="6168"/>
                    <a:pt x="2382195" y="9434"/>
                    <a:pt x="2382195" y="12839"/>
                  </a:cubicBezTo>
                  <a:lnTo>
                    <a:pt x="2382195" y="1216216"/>
                  </a:lnTo>
                  <a:cubicBezTo>
                    <a:pt x="2382195" y="1219621"/>
                    <a:pt x="2380842" y="1222886"/>
                    <a:pt x="2378434" y="1225294"/>
                  </a:cubicBezTo>
                  <a:cubicBezTo>
                    <a:pt x="2376027" y="1227702"/>
                    <a:pt x="2372761" y="1229055"/>
                    <a:pt x="2369356" y="1229055"/>
                  </a:cubicBezTo>
                  <a:lnTo>
                    <a:pt x="12839" y="1229055"/>
                  </a:lnTo>
                  <a:cubicBezTo>
                    <a:pt x="9434" y="1229055"/>
                    <a:pt x="6168" y="1227702"/>
                    <a:pt x="3761" y="1225294"/>
                  </a:cubicBezTo>
                  <a:cubicBezTo>
                    <a:pt x="1353" y="1222886"/>
                    <a:pt x="0" y="1219621"/>
                    <a:pt x="0" y="1216216"/>
                  </a:cubicBezTo>
                  <a:lnTo>
                    <a:pt x="0" y="12839"/>
                  </a:lnTo>
                  <a:cubicBezTo>
                    <a:pt x="0" y="9434"/>
                    <a:pt x="1353" y="6168"/>
                    <a:pt x="3761" y="3761"/>
                  </a:cubicBezTo>
                  <a:cubicBezTo>
                    <a:pt x="6168" y="1353"/>
                    <a:pt x="9434" y="0"/>
                    <a:pt x="12839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382195" cy="1229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949258" y="4983746"/>
          <a:ext cx="8310042" cy="3683472"/>
        </p:xfrm>
        <a:graphic>
          <a:graphicData uri="http://schemas.openxmlformats.org/drawingml/2006/table">
            <a:tbl>
              <a:tblPr/>
              <a:tblGrid>
                <a:gridCol w="1967295"/>
                <a:gridCol w="1967295"/>
                <a:gridCol w="1967295"/>
                <a:gridCol w="2408156"/>
              </a:tblGrid>
              <a:tr h="555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6"/>
                        </a:lnSpc>
                        <a:defRPr/>
                      </a:pPr>
                      <a:r>
                        <a:rPr lang="en-US" b="true" sz="1633">
                          <a:solidFill>
                            <a:srgbClr val="8B5B2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Feature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8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33" strike="noStrike" u="none">
                          <a:solidFill>
                            <a:srgbClr val="8B5B2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Legacy Bank Rules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8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33" strike="noStrike" u="none">
                          <a:solidFill>
                            <a:srgbClr val="8B5B2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Standard Card AI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8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33" strike="noStrike" u="none">
                          <a:solidFill>
                            <a:srgbClr val="8B5B2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GuardianPay (Ours)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Primary Focus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Fixed numeric limits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Stolen card detection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533" strike="noStrike" u="non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Real-Time Scam Interception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Reads Payment Notes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8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533" strike="noStrike" u="non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Yes (Detects Urgency &amp; Scams)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Purpos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v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ent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 Ch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</a:t>
                      </a: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ck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533" strike="noStrike" u="non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Yes (Catches Account Mismatches)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User Alert Style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Generic popup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Passive risk score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533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Active Cognitive Challenge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Integration Layers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Bank backend only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Payment switch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33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 + Extension + MCP Tool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5146893" y="9568339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6518" y="-10893743"/>
            <a:ext cx="9371886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14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KURUKSHETRA 2.0</a:t>
            </a:r>
            <a:r>
              <a:rPr lang="en-US" sz="4800" spc="14">
                <a:solidFill>
                  <a:srgbClr val="000000"/>
                </a:solidFill>
                <a:latin typeface="플라워"/>
                <a:ea typeface="플라워"/>
                <a:cs typeface="플라워"/>
                <a:sym typeface="플라워"/>
              </a:rPr>
              <a:t>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6518" y="-10215086"/>
            <a:ext cx="3692604" cy="70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12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HACKFEST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005893" y="525542"/>
            <a:ext cx="5532120" cy="142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5EB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62940" y="9568339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6912" y="341586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1631421" y="1444363"/>
            <a:ext cx="896112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Solution Overview</a:t>
            </a:r>
          </a:p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62940" y="4288099"/>
            <a:ext cx="580001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Innovation &amp; Uniqueness</a:t>
            </a:r>
          </a:p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749326" y="4288099"/>
            <a:ext cx="601432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Existing Solutions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0831" y="1901904"/>
            <a:ext cx="16644937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607" indent="-225804" lvl="1">
              <a:lnSpc>
                <a:spcPts val="2510"/>
              </a:lnSpc>
              <a:buFont typeface="Arial"/>
              <a:buChar char="•"/>
            </a:pPr>
            <a:r>
              <a:rPr lang="en-US" b="true" sz="2091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GuardianPay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- An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 payment security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 that intercepts scams right before PIN entry during the 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to 4 second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review window.</a:t>
            </a:r>
          </a:p>
          <a:p>
            <a:pPr algn="l" marL="451607" indent="-225804" lvl="1">
              <a:lnSpc>
                <a:spcPts val="2510"/>
              </a:lnSpc>
              <a:buFont typeface="Arial"/>
              <a:buChar char="•"/>
            </a:pP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How It Directly Solves Problem:</a:t>
            </a:r>
          </a:p>
          <a:p>
            <a:pPr algn="l" marL="903214" indent="-301071" lvl="2">
              <a:lnSpc>
                <a:spcPts val="2510"/>
              </a:lnSpc>
              <a:buFont typeface="Arial"/>
              <a:buChar char="⚬"/>
            </a:pPr>
            <a:r>
              <a:rPr lang="en-US" b="true" sz="2091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2-Tier Triage: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Clears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99%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of safe routine payments in under 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10ms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, reserving deep AI checks for suspicious transfers.</a:t>
            </a:r>
          </a:p>
          <a:p>
            <a:pPr algn="l" marL="903214" indent="-301071" lvl="2">
              <a:lnSpc>
                <a:spcPts val="2510"/>
              </a:lnSpc>
              <a:buFont typeface="Arial"/>
              <a:buChar char="⚬"/>
            </a:pPr>
            <a:r>
              <a:rPr lang="en-US" b="true" sz="2091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Multi-Agent NLU Checks: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Analyzes payment notes, checks account age, and flags 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urgency or secrecy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words.</a:t>
            </a:r>
          </a:p>
          <a:p>
            <a:pPr algn="l" marL="903214" indent="-301071" lvl="2">
              <a:lnSpc>
                <a:spcPts val="2510"/>
              </a:lnSpc>
              <a:buFont typeface="Arial"/>
              <a:buChar char="⚬"/>
            </a:pPr>
            <a:r>
              <a:rPr lang="en-US" b="true" sz="2091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MCP Server Integration: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Pluggable security tool that allows any 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UPI app or LLM assistant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to run GuardianPay analysis.</a:t>
            </a:r>
          </a:p>
          <a:p>
            <a:pPr algn="l" marL="903214" indent="-301071" lvl="2">
              <a:lnSpc>
                <a:spcPts val="2510"/>
              </a:lnSpc>
              <a:buFont typeface="Arial"/>
              <a:buChar char="⚬"/>
            </a:pPr>
            <a:r>
              <a:rPr lang="en-US" b="true" sz="2091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 &amp; Live Assistance: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Connects users to a 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24/7 Voice AI (Vapi)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or live human agent</a:t>
            </a:r>
            <a:r>
              <a:rPr lang="en-US" b="true" sz="2091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(Trug.en) </a:t>
            </a:r>
            <a:r>
              <a:rPr lang="en-US" sz="2091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with live context during high-pressure calls.</a:t>
            </a:r>
          </a:p>
          <a:p>
            <a:pPr algn="l">
              <a:lnSpc>
                <a:spcPts val="2510"/>
              </a:lnSpc>
            </a:pPr>
          </a:p>
          <a:p>
            <a:pPr algn="l">
              <a:lnSpc>
                <a:spcPts val="251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45093" y="4951731"/>
            <a:ext cx="711710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Cross-App Smurfing Detection: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Catches structured payment splitting across multiple UPI apps </a:t>
            </a:r>
            <a:r>
              <a:rPr lang="en-US" b="true" sz="219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(GPay, PhonePe)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at the central </a:t>
            </a:r>
            <a:r>
              <a:rPr lang="en-US" b="true" sz="219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NPCI 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switch level.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Banking (CBS) Mule Intelligence: 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Inspects account age and</a:t>
            </a:r>
            <a:r>
              <a:rPr lang="en-US" b="true" sz="219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transfer velocity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to detect rapid burst-drain money movement in new mule accounts.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Out-of-Band FastMCP Agentic Interventions: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Triggers AI reasoning only on high-risk transfers to build plain-English evidence reports with </a:t>
            </a:r>
            <a:r>
              <a:rPr lang="en-US" b="true" sz="219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latency 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on safe payments.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Entity-Purpose KYC Clash Check: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Flags mismatches between bank </a:t>
            </a:r>
            <a:r>
              <a:rPr lang="en-US" b="true" sz="2199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KYC</a:t>
            </a:r>
            <a:r>
              <a:rPr lang="en-US" sz="2199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categories and payment 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2940" y="9678448"/>
            <a:ext cx="17022127" cy="28004"/>
            <a:chOff x="0" y="0"/>
            <a:chExt cx="22696170" cy="373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9654421" y="-7144"/>
            <a:ext cx="6227636" cy="10301288"/>
            <a:chOff x="0" y="0"/>
            <a:chExt cx="8303514" cy="13735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035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8303514">
                  <a:moveTo>
                    <a:pt x="0" y="0"/>
                  </a:moveTo>
                  <a:lnTo>
                    <a:pt x="8303514" y="0"/>
                  </a:lnTo>
                  <a:lnTo>
                    <a:pt x="83035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21110C"/>
            </a:solidFill>
            <a:ln w="14288" cap="sq">
              <a:solidFill>
                <a:srgbClr val="21110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181608" y="298425"/>
            <a:ext cx="9572625" cy="1431160"/>
            <a:chOff x="0" y="0"/>
            <a:chExt cx="12763500" cy="1908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3500" cy="1908214"/>
            </a:xfrm>
            <a:custGeom>
              <a:avLst/>
              <a:gdLst/>
              <a:ahLst/>
              <a:cxnLst/>
              <a:rect r="r" b="b" t="t" l="l"/>
              <a:pathLst>
                <a:path h="1908214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1908214"/>
                  </a:lnTo>
                  <a:lnTo>
                    <a:pt x="0" y="1908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29" r="0" b="-803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3500" cy="191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5EBD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Technical Approach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37857" y="35719"/>
            <a:ext cx="1422126" cy="1418170"/>
            <a:chOff x="0" y="0"/>
            <a:chExt cx="3424238" cy="3414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4301" cy="3414776"/>
            </a:xfrm>
            <a:custGeom>
              <a:avLst/>
              <a:gdLst/>
              <a:ahLst/>
              <a:cxnLst/>
              <a:rect r="r" b="b" t="t" l="l"/>
              <a:pathLst>
                <a:path h="3414776" w="3424301">
                  <a:moveTo>
                    <a:pt x="0" y="0"/>
                  </a:moveTo>
                  <a:lnTo>
                    <a:pt x="3424301" y="0"/>
                  </a:lnTo>
                  <a:lnTo>
                    <a:pt x="3424301" y="3414776"/>
                  </a:lnTo>
                  <a:lnTo>
                    <a:pt x="0" y="3414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5" t="0" r="-1173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0061" y="1234353"/>
            <a:ext cx="8264414" cy="3667049"/>
            <a:chOff x="0" y="0"/>
            <a:chExt cx="2176636" cy="9658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636" cy="965807"/>
            </a:xfrm>
            <a:custGeom>
              <a:avLst/>
              <a:gdLst/>
              <a:ahLst/>
              <a:cxnLst/>
              <a:rect r="r" b="b" t="t" l="l"/>
              <a:pathLst>
                <a:path h="965807" w="2176636">
                  <a:moveTo>
                    <a:pt x="14052" y="0"/>
                  </a:moveTo>
                  <a:lnTo>
                    <a:pt x="2162584" y="0"/>
                  </a:lnTo>
                  <a:cubicBezTo>
                    <a:pt x="2166311" y="0"/>
                    <a:pt x="2169885" y="1480"/>
                    <a:pt x="2172520" y="4116"/>
                  </a:cubicBezTo>
                  <a:cubicBezTo>
                    <a:pt x="2175155" y="6751"/>
                    <a:pt x="2176636" y="10325"/>
                    <a:pt x="2176636" y="14052"/>
                  </a:cubicBezTo>
                  <a:lnTo>
                    <a:pt x="2176636" y="951755"/>
                  </a:lnTo>
                  <a:cubicBezTo>
                    <a:pt x="2176636" y="955482"/>
                    <a:pt x="2175155" y="959056"/>
                    <a:pt x="2172520" y="961691"/>
                  </a:cubicBezTo>
                  <a:cubicBezTo>
                    <a:pt x="2169885" y="964327"/>
                    <a:pt x="2166311" y="965807"/>
                    <a:pt x="2162584" y="965807"/>
                  </a:cubicBezTo>
                  <a:lnTo>
                    <a:pt x="14052" y="965807"/>
                  </a:lnTo>
                  <a:cubicBezTo>
                    <a:pt x="10325" y="965807"/>
                    <a:pt x="6751" y="964327"/>
                    <a:pt x="4116" y="961691"/>
                  </a:cubicBezTo>
                  <a:cubicBezTo>
                    <a:pt x="1480" y="959056"/>
                    <a:pt x="0" y="955482"/>
                    <a:pt x="0" y="951755"/>
                  </a:cubicBezTo>
                  <a:lnTo>
                    <a:pt x="0" y="14052"/>
                  </a:lnTo>
                  <a:cubicBezTo>
                    <a:pt x="0" y="10325"/>
                    <a:pt x="1480" y="6751"/>
                    <a:pt x="4116" y="4116"/>
                  </a:cubicBezTo>
                  <a:cubicBezTo>
                    <a:pt x="6751" y="1480"/>
                    <a:pt x="10325" y="0"/>
                    <a:pt x="14052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76636" cy="96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9586" y="5223989"/>
            <a:ext cx="8294418" cy="3838575"/>
            <a:chOff x="0" y="0"/>
            <a:chExt cx="2184538" cy="1010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4538" cy="1010983"/>
            </a:xfrm>
            <a:custGeom>
              <a:avLst/>
              <a:gdLst/>
              <a:ahLst/>
              <a:cxnLst/>
              <a:rect r="r" b="b" t="t" l="l"/>
              <a:pathLst>
                <a:path h="1010983" w="2184538">
                  <a:moveTo>
                    <a:pt x="14001" y="0"/>
                  </a:moveTo>
                  <a:lnTo>
                    <a:pt x="2170537" y="0"/>
                  </a:lnTo>
                  <a:cubicBezTo>
                    <a:pt x="2174250" y="0"/>
                    <a:pt x="2177812" y="1475"/>
                    <a:pt x="2180437" y="4101"/>
                  </a:cubicBezTo>
                  <a:cubicBezTo>
                    <a:pt x="2183063" y="6726"/>
                    <a:pt x="2184538" y="10288"/>
                    <a:pt x="2184538" y="14001"/>
                  </a:cubicBezTo>
                  <a:lnTo>
                    <a:pt x="2184538" y="996982"/>
                  </a:lnTo>
                  <a:cubicBezTo>
                    <a:pt x="2184538" y="1000695"/>
                    <a:pt x="2183063" y="1004256"/>
                    <a:pt x="2180437" y="1006882"/>
                  </a:cubicBezTo>
                  <a:cubicBezTo>
                    <a:pt x="2177812" y="1009508"/>
                    <a:pt x="2174250" y="1010983"/>
                    <a:pt x="2170537" y="1010983"/>
                  </a:cubicBezTo>
                  <a:lnTo>
                    <a:pt x="14001" y="1010983"/>
                  </a:lnTo>
                  <a:cubicBezTo>
                    <a:pt x="10288" y="1010983"/>
                    <a:pt x="6726" y="1009508"/>
                    <a:pt x="4101" y="1006882"/>
                  </a:cubicBezTo>
                  <a:cubicBezTo>
                    <a:pt x="1475" y="1004256"/>
                    <a:pt x="0" y="1000695"/>
                    <a:pt x="0" y="996982"/>
                  </a:cubicBezTo>
                  <a:lnTo>
                    <a:pt x="0" y="14001"/>
                  </a:lnTo>
                  <a:cubicBezTo>
                    <a:pt x="0" y="10288"/>
                    <a:pt x="1475" y="6726"/>
                    <a:pt x="4101" y="4101"/>
                  </a:cubicBezTo>
                  <a:cubicBezTo>
                    <a:pt x="6726" y="1475"/>
                    <a:pt x="10288" y="0"/>
                    <a:pt x="14001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84538" cy="1010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648652" y="1234353"/>
            <a:ext cx="7610648" cy="8327915"/>
          </a:xfrm>
          <a:custGeom>
            <a:avLst/>
            <a:gdLst/>
            <a:ahLst/>
            <a:cxnLst/>
            <a:rect r="r" b="b" t="t" l="l"/>
            <a:pathLst>
              <a:path h="8327915" w="7610648">
                <a:moveTo>
                  <a:pt x="0" y="0"/>
                </a:moveTo>
                <a:lnTo>
                  <a:pt x="7610648" y="0"/>
                </a:lnTo>
                <a:lnTo>
                  <a:pt x="7610648" y="8327915"/>
                </a:lnTo>
                <a:lnTo>
                  <a:pt x="0" y="8327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020045" y="9707285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6518" y="-10893743"/>
            <a:ext cx="9371886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14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KURUKSHETRA 2.0</a:t>
            </a:r>
            <a:r>
              <a:rPr lang="en-US" sz="4800" spc="14">
                <a:solidFill>
                  <a:srgbClr val="000000"/>
                </a:solidFill>
                <a:latin typeface="플라워"/>
                <a:ea typeface="플라워"/>
                <a:cs typeface="플라워"/>
                <a:sym typeface="플라워"/>
              </a:rPr>
              <a:t>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6518" y="-10215086"/>
            <a:ext cx="3692604" cy="70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12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HACKFEST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005893" y="525542"/>
            <a:ext cx="5532120" cy="142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5EB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62940" y="9707285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2623" y="701154"/>
            <a:ext cx="4416791" cy="4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5"/>
              </a:lnSpc>
              <a:spcBef>
                <a:spcPct val="0"/>
              </a:spcBef>
            </a:pPr>
            <a:r>
              <a:rPr lang="en-US" b="true" sz="2621" strike="noStrike" u="non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ARCHITECTURE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6912" y="339204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0076" y="1321656"/>
            <a:ext cx="421052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Technology Stack</a:t>
            </a:r>
          </a:p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1722" y="5277987"/>
            <a:ext cx="697872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Implementation Approach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4603" y="1887087"/>
            <a:ext cx="8064385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822" indent="-197911" lvl="1">
              <a:lnSpc>
                <a:spcPts val="2200"/>
              </a:lnSpc>
              <a:buFont typeface="Arial"/>
              <a:buChar char="•"/>
            </a:pPr>
            <a:r>
              <a:rPr lang="en-US" b="true" sz="1833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Frontend:</a:t>
            </a: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Vanilla JavaScript , HTML5, Custom CSS3</a:t>
            </a:r>
          </a:p>
          <a:p>
            <a:pPr algn="l" marL="395822" indent="-197911" lvl="1">
              <a:lnSpc>
                <a:spcPts val="2200"/>
              </a:lnSpc>
              <a:buFont typeface="Arial"/>
              <a:buChar char="•"/>
            </a:pPr>
            <a:r>
              <a:rPr lang="en-US" b="true" sz="1833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Backend: </a:t>
            </a: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3.11, FastAPI , Uvicorn (v0.32)</a:t>
            </a:r>
          </a:p>
          <a:p>
            <a:pPr algn="l" marL="395822" indent="-197911" lvl="1">
              <a:lnSpc>
                <a:spcPts val="2200"/>
              </a:lnSpc>
              <a:buFont typeface="Arial"/>
              <a:buChar char="•"/>
            </a:pPr>
            <a:r>
              <a:rPr lang="en-US" b="true" sz="1833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Protocol &amp; Agent Framework:</a:t>
            </a: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FastMCP (v1.0 - Model Context Protocol Server &amp; Host)</a:t>
            </a:r>
          </a:p>
          <a:p>
            <a:pPr algn="l" marL="395822" indent="-197911" lvl="1">
              <a:lnSpc>
                <a:spcPts val="2200"/>
              </a:lnSpc>
              <a:buFont typeface="Arial"/>
              <a:buChar char="•"/>
            </a:pPr>
            <a:r>
              <a:rPr lang="en-US" b="true" sz="1833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&amp; Storage:</a:t>
            </a: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SQLite for Core Banking Ledgers + PostgreSQL Audit Store</a:t>
            </a:r>
          </a:p>
          <a:p>
            <a:pPr algn="l" marL="395822" indent="-197911" lvl="1">
              <a:lnSpc>
                <a:spcPts val="2200"/>
              </a:lnSpc>
              <a:buFont typeface="Arial"/>
              <a:buChar char="•"/>
            </a:pPr>
            <a:r>
              <a:rPr lang="en-US" b="true" sz="1833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 &amp; Live Support:</a:t>
            </a: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Vapi AI + Trug.en </a:t>
            </a:r>
          </a:p>
          <a:p>
            <a:pPr algn="l" marL="395822" indent="-197911" lvl="1">
              <a:lnSpc>
                <a:spcPts val="2200"/>
              </a:lnSpc>
              <a:buFont typeface="Arial"/>
              <a:buChar char="•"/>
            </a:pPr>
            <a:r>
              <a:rPr lang="en-US" b="true" sz="1833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&amp; ML Models:</a:t>
            </a:r>
          </a:p>
          <a:p>
            <a:pPr algn="l" marL="791645" indent="-263882" lvl="2">
              <a:lnSpc>
                <a:spcPts val="2200"/>
              </a:lnSpc>
              <a:buFont typeface="Arial"/>
              <a:buChar char="⚬"/>
            </a:pP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Fast Path: Gradient-Boosted Tree ML model (Sub-10ms risk scoring).</a:t>
            </a:r>
          </a:p>
          <a:p>
            <a:pPr algn="l" marL="791645" indent="-263882" lvl="2">
              <a:lnSpc>
                <a:spcPts val="2200"/>
              </a:lnSpc>
              <a:buFont typeface="Arial"/>
              <a:buChar char="⚬"/>
            </a:pP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Deep Path: GPT-4o / Gemini 1.5 Pro (Structured JSON scam analysis).</a:t>
            </a:r>
          </a:p>
          <a:p>
            <a:pPr algn="l" marL="791645" indent="-263882" lvl="2">
              <a:lnSpc>
                <a:spcPts val="2200"/>
              </a:lnSpc>
              <a:buFont typeface="Arial"/>
              <a:buChar char="⚬"/>
            </a:pPr>
            <a:r>
              <a:rPr lang="en-US" sz="1833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Memory (RAG): ChromaDB (Local vector database ).</a:t>
            </a:r>
          </a:p>
          <a:p>
            <a:pPr algn="l">
              <a:lnSpc>
                <a:spcPts val="2200"/>
              </a:lnSpc>
            </a:pP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50209" y="5782812"/>
            <a:ext cx="8022202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496" indent="-199248" lvl="1">
              <a:lnSpc>
                <a:spcPts val="2214"/>
              </a:lnSpc>
              <a:buAutoNum type="arabicPeriod" startAt="1"/>
            </a:pP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Draft Ca</a:t>
            </a: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pture: Intercepts recipient, amount, and note before payment submission.</a:t>
            </a:r>
          </a:p>
          <a:p>
            <a:pPr algn="l" marL="398496" indent="-199248" lvl="1">
              <a:lnSpc>
                <a:spcPts val="2214"/>
              </a:lnSpc>
              <a:buAutoNum type="arabicPeriod" startAt="1"/>
            </a:pP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Fast Check (Tier 1): Rule engine and ML model evaluate the transaction in under 10ms.</a:t>
            </a:r>
          </a:p>
          <a:p>
            <a:pPr algn="l" marL="398496" indent="-199248" lvl="1">
              <a:lnSpc>
                <a:spcPts val="2214"/>
              </a:lnSpc>
              <a:buAutoNum type="arabicPeriod" startAt="1"/>
            </a:pP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Deep AI Analysis (Tier 2): If flagged, 4 specialized AI agents inspect language, account age, and scam patterns concurrently.</a:t>
            </a:r>
          </a:p>
          <a:p>
            <a:pPr algn="l" marL="398496" indent="-199248" lvl="1">
              <a:lnSpc>
                <a:spcPts val="2214"/>
              </a:lnSpc>
              <a:buAutoNum type="arabicPeriod" startAt="1"/>
            </a:pP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Safety Policy: A fixed code rule engine sets the final action (ALLOW, ADVISE, CHALLENGE, PAUSE, BLOCK).</a:t>
            </a:r>
          </a:p>
          <a:p>
            <a:pPr algn="l" marL="398496" indent="-199248" lvl="1">
              <a:lnSpc>
                <a:spcPts val="2214"/>
              </a:lnSpc>
              <a:buAutoNum type="arabicPeriod" startAt="1"/>
            </a:pP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Handoff: On high-risk pauses, users can talk to a Voice AI or live agent with full transaction context.</a:t>
            </a:r>
          </a:p>
          <a:p>
            <a:pPr algn="l" marL="398496" indent="-199248" lvl="1">
              <a:lnSpc>
                <a:spcPts val="2214"/>
              </a:lnSpc>
              <a:buAutoNum type="arabicPeriod" startAt="1"/>
            </a:pPr>
            <a:r>
              <a:rPr lang="en-US" sz="184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Audit Record: Saves every decision in an immutable, tamper-evident log.</a:t>
            </a:r>
          </a:p>
          <a:p>
            <a:pPr algn="l">
              <a:lnSpc>
                <a:spcPts val="221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0076" y="9498044"/>
            <a:ext cx="17022127" cy="28004"/>
            <a:chOff x="0" y="0"/>
            <a:chExt cx="22696170" cy="373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409122" y="381743"/>
            <a:ext cx="9572625" cy="1431160"/>
            <a:chOff x="0" y="0"/>
            <a:chExt cx="12763500" cy="19082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63500" cy="1908214"/>
            </a:xfrm>
            <a:custGeom>
              <a:avLst/>
              <a:gdLst/>
              <a:ahLst/>
              <a:cxnLst/>
              <a:rect r="r" b="b" t="t" l="l"/>
              <a:pathLst>
                <a:path h="1908214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1908214"/>
                  </a:lnTo>
                  <a:lnTo>
                    <a:pt x="0" y="1908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29" r="0" b="-8032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763500" cy="191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5EBD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Feasibility, Viability &amp; Impact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737857" y="-7144"/>
            <a:ext cx="1422126" cy="1418170"/>
            <a:chOff x="0" y="0"/>
            <a:chExt cx="3424238" cy="3414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24301" cy="3414776"/>
            </a:xfrm>
            <a:custGeom>
              <a:avLst/>
              <a:gdLst/>
              <a:ahLst/>
              <a:cxnLst/>
              <a:rect r="r" b="b" t="t" l="l"/>
              <a:pathLst>
                <a:path h="3414776" w="3424301">
                  <a:moveTo>
                    <a:pt x="0" y="0"/>
                  </a:moveTo>
                  <a:lnTo>
                    <a:pt x="3424301" y="0"/>
                  </a:lnTo>
                  <a:lnTo>
                    <a:pt x="3424301" y="3414776"/>
                  </a:lnTo>
                  <a:lnTo>
                    <a:pt x="0" y="3414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5" t="0" r="-1173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10076" y="1237038"/>
            <a:ext cx="9739309" cy="5204578"/>
            <a:chOff x="0" y="0"/>
            <a:chExt cx="2565085" cy="13707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5085" cy="1370753"/>
            </a:xfrm>
            <a:custGeom>
              <a:avLst/>
              <a:gdLst/>
              <a:ahLst/>
              <a:cxnLst/>
              <a:rect r="r" b="b" t="t" l="l"/>
              <a:pathLst>
                <a:path h="1370753" w="2565085">
                  <a:moveTo>
                    <a:pt x="11924" y="0"/>
                  </a:moveTo>
                  <a:lnTo>
                    <a:pt x="2553162" y="0"/>
                  </a:lnTo>
                  <a:cubicBezTo>
                    <a:pt x="2556324" y="0"/>
                    <a:pt x="2559357" y="1256"/>
                    <a:pt x="2561593" y="3492"/>
                  </a:cubicBezTo>
                  <a:cubicBezTo>
                    <a:pt x="2563829" y="5729"/>
                    <a:pt x="2565085" y="8761"/>
                    <a:pt x="2565085" y="11924"/>
                  </a:cubicBezTo>
                  <a:lnTo>
                    <a:pt x="2565085" y="1358829"/>
                  </a:lnTo>
                  <a:cubicBezTo>
                    <a:pt x="2565085" y="1361992"/>
                    <a:pt x="2563829" y="1365025"/>
                    <a:pt x="2561593" y="1367261"/>
                  </a:cubicBezTo>
                  <a:cubicBezTo>
                    <a:pt x="2559357" y="1369497"/>
                    <a:pt x="2556324" y="1370753"/>
                    <a:pt x="2553162" y="1370753"/>
                  </a:cubicBezTo>
                  <a:lnTo>
                    <a:pt x="11924" y="1370753"/>
                  </a:lnTo>
                  <a:cubicBezTo>
                    <a:pt x="8761" y="1370753"/>
                    <a:pt x="5729" y="1369497"/>
                    <a:pt x="3492" y="1367261"/>
                  </a:cubicBezTo>
                  <a:cubicBezTo>
                    <a:pt x="1256" y="1365025"/>
                    <a:pt x="0" y="1361992"/>
                    <a:pt x="0" y="1358829"/>
                  </a:cubicBezTo>
                  <a:lnTo>
                    <a:pt x="0" y="11924"/>
                  </a:lnTo>
                  <a:cubicBezTo>
                    <a:pt x="0" y="8761"/>
                    <a:pt x="1256" y="5729"/>
                    <a:pt x="3492" y="3492"/>
                  </a:cubicBezTo>
                  <a:cubicBezTo>
                    <a:pt x="5729" y="1256"/>
                    <a:pt x="8761" y="0"/>
                    <a:pt x="11924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5085" cy="1370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73175" y="1237038"/>
            <a:ext cx="6959029" cy="5204578"/>
            <a:chOff x="0" y="0"/>
            <a:chExt cx="1832831" cy="13707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2831" cy="1370753"/>
            </a:xfrm>
            <a:custGeom>
              <a:avLst/>
              <a:gdLst/>
              <a:ahLst/>
              <a:cxnLst/>
              <a:rect r="r" b="b" t="t" l="l"/>
              <a:pathLst>
                <a:path h="1370753" w="1832831">
                  <a:moveTo>
                    <a:pt x="16688" y="0"/>
                  </a:moveTo>
                  <a:lnTo>
                    <a:pt x="1816143" y="0"/>
                  </a:lnTo>
                  <a:cubicBezTo>
                    <a:pt x="1825360" y="0"/>
                    <a:pt x="1832831" y="7471"/>
                    <a:pt x="1832831" y="16688"/>
                  </a:cubicBezTo>
                  <a:lnTo>
                    <a:pt x="1832831" y="1354066"/>
                  </a:lnTo>
                  <a:cubicBezTo>
                    <a:pt x="1832831" y="1363282"/>
                    <a:pt x="1825360" y="1370753"/>
                    <a:pt x="1816143" y="1370753"/>
                  </a:cubicBezTo>
                  <a:lnTo>
                    <a:pt x="16688" y="1370753"/>
                  </a:lnTo>
                  <a:cubicBezTo>
                    <a:pt x="7471" y="1370753"/>
                    <a:pt x="0" y="1363282"/>
                    <a:pt x="0" y="1354066"/>
                  </a:cubicBezTo>
                  <a:lnTo>
                    <a:pt x="0" y="16688"/>
                  </a:lnTo>
                  <a:cubicBezTo>
                    <a:pt x="0" y="7471"/>
                    <a:pt x="7471" y="0"/>
                    <a:pt x="16688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832831" cy="1370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9524" y="6700123"/>
            <a:ext cx="17002679" cy="2483016"/>
            <a:chOff x="0" y="0"/>
            <a:chExt cx="4478072" cy="6539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8072" cy="653963"/>
            </a:xfrm>
            <a:custGeom>
              <a:avLst/>
              <a:gdLst/>
              <a:ahLst/>
              <a:cxnLst/>
              <a:rect r="r" b="b" t="t" l="l"/>
              <a:pathLst>
                <a:path h="653963" w="4478072">
                  <a:moveTo>
                    <a:pt x="6830" y="0"/>
                  </a:moveTo>
                  <a:lnTo>
                    <a:pt x="4471242" y="0"/>
                  </a:lnTo>
                  <a:cubicBezTo>
                    <a:pt x="4475014" y="0"/>
                    <a:pt x="4478072" y="3058"/>
                    <a:pt x="4478072" y="6830"/>
                  </a:cubicBezTo>
                  <a:lnTo>
                    <a:pt x="4478072" y="647133"/>
                  </a:lnTo>
                  <a:cubicBezTo>
                    <a:pt x="4478072" y="650905"/>
                    <a:pt x="4475014" y="653963"/>
                    <a:pt x="4471242" y="653963"/>
                  </a:cubicBezTo>
                  <a:lnTo>
                    <a:pt x="6830" y="653963"/>
                  </a:lnTo>
                  <a:cubicBezTo>
                    <a:pt x="3058" y="653963"/>
                    <a:pt x="0" y="650905"/>
                    <a:pt x="0" y="647133"/>
                  </a:cubicBezTo>
                  <a:lnTo>
                    <a:pt x="0" y="6830"/>
                  </a:lnTo>
                  <a:cubicBezTo>
                    <a:pt x="0" y="3058"/>
                    <a:pt x="3058" y="0"/>
                    <a:pt x="6830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478072" cy="65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740567" y="3335203"/>
          <a:ext cx="9478328" cy="2766109"/>
        </p:xfrm>
        <a:graphic>
          <a:graphicData uri="http://schemas.openxmlformats.org/drawingml/2006/table">
            <a:tbl>
              <a:tblPr/>
              <a:tblGrid>
                <a:gridCol w="1633281"/>
                <a:gridCol w="3073984"/>
                <a:gridCol w="4771063"/>
              </a:tblGrid>
              <a:tr h="6181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8B5B2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Potential Challenges &amp; Risks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599" strike="noStrike" u="none">
                          <a:solidFill>
                            <a:srgbClr val="8B5B24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Strategies for Overcoming These Challenges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239"/>
                        </a:lnSpc>
                        <a:spcBef>
                          <a:spcPct val="0"/>
                        </a:spcBef>
                      </a:pPr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1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AI Latency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LLM calls could delay the payment flow.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Auto-fallback to Tier 1 fast rules if AI exceeds 6 seconds.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91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Data Privacy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Must comply with India's DPDP Act 2023.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Only payment draft metadata is processed temporarily. No calls, messages, or personal content are stored.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07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Prompt Injection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Scammers could craft note text to trick the AI agent.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Policy Engine blocks any AI attempt to lower safety below fixed rules.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15146893" y="9568339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4505" y="9568339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6912" y="339204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8450" y="1308973"/>
            <a:ext cx="42105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Feasibility &amp; Viability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95435" y="1528048"/>
            <a:ext cx="697872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Impact &amp; Benefits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99776" y="1999062"/>
            <a:ext cx="6475156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1462" indent="-230731" lvl="1">
              <a:lnSpc>
                <a:spcPts val="2564"/>
              </a:lnSpc>
              <a:buFont typeface="Arial"/>
              <a:buChar char="•"/>
            </a:pPr>
            <a:r>
              <a:rPr lang="en-US" b="true" sz="2137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Citizen Protection:</a:t>
            </a:r>
            <a:r>
              <a:rPr lang="en-US" sz="2137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Intercepts coercion before PIN entry and provides a Public Scam Lookup tool to verify UPI IDs before paying.</a:t>
            </a:r>
          </a:p>
          <a:p>
            <a:pPr algn="just" marL="461462" indent="-230731" lvl="1">
              <a:lnSpc>
                <a:spcPts val="2564"/>
              </a:lnSpc>
              <a:buFont typeface="Arial"/>
              <a:buChar char="•"/>
            </a:pPr>
            <a:r>
              <a:rPr lang="en-US" b="true" sz="2137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Bank Cost Savings:</a:t>
            </a:r>
            <a:r>
              <a:rPr lang="en-US" sz="2137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Eliminates expensive post-facto Ombudsman disputes, chargeback investigations, and legal overhead.</a:t>
            </a:r>
          </a:p>
          <a:p>
            <a:pPr algn="just" marL="461462" indent="-230731" lvl="1">
              <a:lnSpc>
                <a:spcPts val="2564"/>
              </a:lnSpc>
              <a:buFont typeface="Arial"/>
              <a:buChar char="•"/>
            </a:pPr>
            <a:r>
              <a:rPr lang="en-US" b="true" sz="2137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</a:t>
            </a:r>
            <a:r>
              <a:rPr lang="en-US" b="true" sz="2137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Checkout Friction: </a:t>
            </a:r>
            <a:r>
              <a:rPr lang="en-US" sz="2137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Clears 99%+ of safe payments in under 10ms, preserving app checkout speeds and user experience.</a:t>
            </a:r>
          </a:p>
          <a:p>
            <a:pPr algn="just" marL="461462" indent="-230731" lvl="1">
              <a:lnSpc>
                <a:spcPts val="2564"/>
              </a:lnSpc>
              <a:buFont typeface="Arial"/>
              <a:buChar char="•"/>
            </a:pPr>
            <a:r>
              <a:rPr lang="en-US" b="true" sz="2137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Chokes Mule Networks: </a:t>
            </a:r>
            <a:r>
              <a:rPr lang="en-US" sz="2137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Blocks scam funds on Day 1, stopping money laundering before transfers split across mule accounts.</a:t>
            </a:r>
          </a:p>
          <a:p>
            <a:pPr algn="just">
              <a:lnSpc>
                <a:spcPts val="256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-2211648" y="6870241"/>
            <a:ext cx="89611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AI/ML Details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4505" y="7356016"/>
            <a:ext cx="16280042" cy="195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1305" indent="-180652" lvl="1">
              <a:lnSpc>
                <a:spcPts val="2395"/>
              </a:lnSpc>
              <a:buFont typeface="Arial"/>
              <a:buChar char="•"/>
            </a:pPr>
            <a:r>
              <a:rPr lang="en-US" b="true" sz="1996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Multi-Source Detector Matrix:</a:t>
            </a:r>
            <a:r>
              <a:rPr lang="en-US" sz="1996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Evaluates 33 technical detectors across Tier 0 (local ledger), Tier 1 (CBS, transaction ledger, switch reputation), and Tier 2 (government registries).</a:t>
            </a:r>
          </a:p>
          <a:p>
            <a:pPr algn="just" marL="361305" indent="-180652" lvl="1">
              <a:lnSpc>
                <a:spcPts val="2395"/>
              </a:lnSpc>
              <a:buFont typeface="Arial"/>
              <a:buChar char="•"/>
            </a:pPr>
            <a:r>
              <a:rPr lang="en-US" b="true" sz="1996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FastMCP Agentic Host:</a:t>
            </a:r>
            <a:r>
              <a:rPr lang="en-US" sz="1996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Uses FastMCP (1.0) out-of-band to build plain-English evidence reports and contextual intervention screens for COACH and FREEZE decisions.</a:t>
            </a:r>
          </a:p>
          <a:p>
            <a:pPr algn="just" marL="361305" indent="-180652" lvl="1">
              <a:lnSpc>
                <a:spcPts val="2395"/>
              </a:lnSpc>
              <a:buFont typeface="Arial"/>
              <a:buChar char="•"/>
            </a:pPr>
            <a:r>
              <a:rPr lang="en-US" b="true" sz="1996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Weighted Risk Scoring Engine: </a:t>
            </a:r>
            <a:r>
              <a:rPr lang="en-US" sz="1996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Calculates a 0.0 to 1.0 risk score and dynamic confidence rating (FULL, PARTIAL, DEGRADED) based on available data completeness.</a:t>
            </a:r>
          </a:p>
          <a:p>
            <a:pPr algn="just" marL="149306" indent="-74653" lvl="1">
              <a:lnSpc>
                <a:spcPts val="99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51725" y="1791346"/>
            <a:ext cx="9700313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124" indent="-176062" lvl="1">
              <a:lnSpc>
                <a:spcPts val="19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30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Drop-i</a:t>
            </a:r>
            <a:r>
              <a:rPr lang="en-US" b="true" sz="1630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NPCI Integration: </a:t>
            </a:r>
            <a:r>
              <a:rPr lang="en-US" sz="16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Connects directly to NPCI's native ReqValAdd</a:t>
            </a:r>
            <a:r>
              <a:rPr lang="en-US" sz="16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 ReqPay protocol hooks without altering existing UPI apps or bank backends.</a:t>
            </a:r>
          </a:p>
          <a:p>
            <a:pPr algn="just" marL="352124" indent="-176062" lvl="1">
              <a:lnSpc>
                <a:spcPts val="19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30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Checkout Latency:</a:t>
            </a:r>
            <a:r>
              <a:rPr lang="en-US" sz="16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Fast Tier 0/1 checks clear safe payments in &lt;10ms; out-of-band AI runs only on elevated risk to prevent checkout delays.</a:t>
            </a:r>
          </a:p>
          <a:p>
            <a:pPr algn="just" marL="352124" indent="-176062" lvl="1">
              <a:lnSpc>
                <a:spcPts val="19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30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Hardened Security &amp; Injection Defense:</a:t>
            </a:r>
            <a:r>
              <a:rPr lang="en-US" sz="16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Isolates note text from prompts; Policy Engine code rules block AI from overriding baseline safety floors.</a:t>
            </a:r>
          </a:p>
          <a:p>
            <a:pPr algn="just">
              <a:lnSpc>
                <a:spcPts val="195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5146893" y="9568339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0076" y="9498044"/>
            <a:ext cx="17022127" cy="28004"/>
            <a:chOff x="0" y="0"/>
            <a:chExt cx="22696170" cy="373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9654421" y="-7144"/>
            <a:ext cx="6227636" cy="10301288"/>
            <a:chOff x="0" y="0"/>
            <a:chExt cx="8303514" cy="13735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035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8303514">
                  <a:moveTo>
                    <a:pt x="0" y="0"/>
                  </a:moveTo>
                  <a:lnTo>
                    <a:pt x="8303514" y="0"/>
                  </a:lnTo>
                  <a:lnTo>
                    <a:pt x="83035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21110C"/>
            </a:solidFill>
            <a:ln w="14288" cap="sq">
              <a:solidFill>
                <a:srgbClr val="21110C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716518" y="-10893743"/>
            <a:ext cx="9371886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14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KURUKSHETRA 2.0</a:t>
            </a:r>
            <a:r>
              <a:rPr lang="en-US" sz="4800" spc="14">
                <a:solidFill>
                  <a:srgbClr val="000000"/>
                </a:solidFill>
                <a:latin typeface="플라워"/>
                <a:ea typeface="플라워"/>
                <a:cs typeface="플라워"/>
                <a:sym typeface="플라워"/>
              </a:rPr>
              <a:t>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6518" y="-10215086"/>
            <a:ext cx="3692604" cy="70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12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HACKFEST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005893" y="525542"/>
            <a:ext cx="5532120" cy="142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5EB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62940" y="9568339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334828" y="320941"/>
            <a:ext cx="9572625" cy="1431160"/>
            <a:chOff x="0" y="0"/>
            <a:chExt cx="12763500" cy="19082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3500" cy="1908214"/>
            </a:xfrm>
            <a:custGeom>
              <a:avLst/>
              <a:gdLst/>
              <a:ahLst/>
              <a:cxnLst/>
              <a:rect r="r" b="b" t="t" l="l"/>
              <a:pathLst>
                <a:path h="1908214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1908214"/>
                  </a:lnTo>
                  <a:lnTo>
                    <a:pt x="0" y="1908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29" r="0" b="-8032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763500" cy="191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5EBD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Research &amp; References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737857" y="13501"/>
            <a:ext cx="1422126" cy="1418170"/>
            <a:chOff x="0" y="0"/>
            <a:chExt cx="3424238" cy="34147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4301" cy="3414776"/>
            </a:xfrm>
            <a:custGeom>
              <a:avLst/>
              <a:gdLst/>
              <a:ahLst/>
              <a:cxnLst/>
              <a:rect r="r" b="b" t="t" l="l"/>
              <a:pathLst>
                <a:path h="3414776" w="3424301">
                  <a:moveTo>
                    <a:pt x="0" y="0"/>
                  </a:moveTo>
                  <a:lnTo>
                    <a:pt x="3424301" y="0"/>
                  </a:lnTo>
                  <a:lnTo>
                    <a:pt x="3424301" y="3414776"/>
                  </a:lnTo>
                  <a:lnTo>
                    <a:pt x="0" y="3414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5" t="0" r="-1173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46912" y="320941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08259" y="1945558"/>
            <a:ext cx="8843831" cy="7125071"/>
            <a:chOff x="0" y="0"/>
            <a:chExt cx="2329239" cy="18765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29239" cy="1876562"/>
            </a:xfrm>
            <a:custGeom>
              <a:avLst/>
              <a:gdLst/>
              <a:ahLst/>
              <a:cxnLst/>
              <a:rect r="r" b="b" t="t" l="l"/>
              <a:pathLst>
                <a:path h="1876562" w="2329239">
                  <a:moveTo>
                    <a:pt x="13131" y="0"/>
                  </a:moveTo>
                  <a:lnTo>
                    <a:pt x="2316108" y="0"/>
                  </a:lnTo>
                  <a:cubicBezTo>
                    <a:pt x="2323361" y="0"/>
                    <a:pt x="2329239" y="5879"/>
                    <a:pt x="2329239" y="13131"/>
                  </a:cubicBezTo>
                  <a:lnTo>
                    <a:pt x="2329239" y="1863431"/>
                  </a:lnTo>
                  <a:cubicBezTo>
                    <a:pt x="2329239" y="1870683"/>
                    <a:pt x="2323361" y="1876562"/>
                    <a:pt x="2316108" y="1876562"/>
                  </a:cubicBezTo>
                  <a:lnTo>
                    <a:pt x="13131" y="1876562"/>
                  </a:lnTo>
                  <a:cubicBezTo>
                    <a:pt x="9648" y="1876562"/>
                    <a:pt x="6309" y="1875179"/>
                    <a:pt x="3846" y="1872716"/>
                  </a:cubicBezTo>
                  <a:cubicBezTo>
                    <a:pt x="1383" y="1870253"/>
                    <a:pt x="0" y="1866914"/>
                    <a:pt x="0" y="1863431"/>
                  </a:cubicBezTo>
                  <a:lnTo>
                    <a:pt x="0" y="13131"/>
                  </a:lnTo>
                  <a:cubicBezTo>
                    <a:pt x="0" y="5879"/>
                    <a:pt x="5879" y="0"/>
                    <a:pt x="13131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329239" cy="187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27331" y="1902322"/>
            <a:ext cx="7234445" cy="7125071"/>
            <a:chOff x="0" y="0"/>
            <a:chExt cx="1905368" cy="18765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368" cy="1876562"/>
            </a:xfrm>
            <a:custGeom>
              <a:avLst/>
              <a:gdLst/>
              <a:ahLst/>
              <a:cxnLst/>
              <a:rect r="r" b="b" t="t" l="l"/>
              <a:pathLst>
                <a:path h="1876562" w="1905368">
                  <a:moveTo>
                    <a:pt x="16052" y="0"/>
                  </a:moveTo>
                  <a:lnTo>
                    <a:pt x="1889316" y="0"/>
                  </a:lnTo>
                  <a:cubicBezTo>
                    <a:pt x="1893574" y="0"/>
                    <a:pt x="1897656" y="1691"/>
                    <a:pt x="1900667" y="4702"/>
                  </a:cubicBezTo>
                  <a:cubicBezTo>
                    <a:pt x="1903677" y="7712"/>
                    <a:pt x="1905368" y="11795"/>
                    <a:pt x="1905368" y="16052"/>
                  </a:cubicBezTo>
                  <a:lnTo>
                    <a:pt x="1905368" y="1860510"/>
                  </a:lnTo>
                  <a:cubicBezTo>
                    <a:pt x="1905368" y="1864767"/>
                    <a:pt x="1903677" y="1868850"/>
                    <a:pt x="1900667" y="1871860"/>
                  </a:cubicBezTo>
                  <a:cubicBezTo>
                    <a:pt x="1897656" y="1874871"/>
                    <a:pt x="1893574" y="1876562"/>
                    <a:pt x="1889316" y="1876562"/>
                  </a:cubicBezTo>
                  <a:lnTo>
                    <a:pt x="16052" y="1876562"/>
                  </a:lnTo>
                  <a:cubicBezTo>
                    <a:pt x="11795" y="1876562"/>
                    <a:pt x="7712" y="1874871"/>
                    <a:pt x="4702" y="1871860"/>
                  </a:cubicBezTo>
                  <a:cubicBezTo>
                    <a:pt x="1691" y="1868850"/>
                    <a:pt x="0" y="1864767"/>
                    <a:pt x="0" y="1860510"/>
                  </a:cubicBezTo>
                  <a:lnTo>
                    <a:pt x="0" y="16052"/>
                  </a:lnTo>
                  <a:cubicBezTo>
                    <a:pt x="0" y="11795"/>
                    <a:pt x="1691" y="7712"/>
                    <a:pt x="4702" y="4702"/>
                  </a:cubicBezTo>
                  <a:cubicBezTo>
                    <a:pt x="7712" y="1691"/>
                    <a:pt x="11795" y="0"/>
                    <a:pt x="16052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05368" cy="187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15385" y="2289095"/>
            <a:ext cx="42105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Research Conducted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7747" y="3113331"/>
            <a:ext cx="7966709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163" indent="-224082" lvl="1">
              <a:lnSpc>
                <a:spcPts val="2490"/>
              </a:lnSpc>
              <a:buFont typeface="Arial"/>
              <a:buChar char="•"/>
            </a:pPr>
            <a:r>
              <a:rPr lang="en-US" b="true" sz="2075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 Scam Taxonomy: </a:t>
            </a:r>
            <a:r>
              <a:rPr lang="en-US" sz="207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Analyzed Indian and global scam types including CBI/police digital arrest scams, tech support scams, fake utility disconnections, investment fraud, and lottery advance-fee scams. Mapped the social engineering tactics behind each.</a:t>
            </a:r>
          </a:p>
          <a:p>
            <a:pPr algn="l" marL="448163" indent="-224082" lvl="1">
              <a:lnSpc>
                <a:spcPts val="2490"/>
              </a:lnSpc>
              <a:buFont typeface="Arial"/>
              <a:buChar char="•"/>
            </a:pPr>
            <a:r>
              <a:rPr lang="en-US" b="true" sz="2075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UPI Payment Architecture: </a:t>
            </a:r>
            <a:r>
              <a:rPr lang="en-US" sz="207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Studied NPCI's UPI specification, message payloads, TPAP client flows, and latency budgets. Found that pre-authorization client interception (before PIN entry) is the only viable point to stop a scam.</a:t>
            </a:r>
          </a:p>
          <a:p>
            <a:pPr algn="l" marL="448163" indent="-224082" lvl="1">
              <a:lnSpc>
                <a:spcPts val="2490"/>
              </a:lnSpc>
              <a:buFont typeface="Arial"/>
              <a:buChar char="•"/>
            </a:pPr>
            <a:r>
              <a:rPr lang="en-US" b="true" sz="2075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Behavioral Economics of Friction:</a:t>
            </a:r>
            <a:r>
              <a:rPr lang="en-US" sz="207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Researched why users ignore generic warning popups (alert fatigue). This drove our 5-level graduated friction design (ALLOW / ADVISE / CHALLENGE / PAUSE / BLOCK) which forces active user engagement instead of passive tap-through.</a:t>
            </a:r>
          </a:p>
          <a:p>
            <a:pPr algn="l" marL="448163" indent="-224082" lvl="1">
              <a:lnSpc>
                <a:spcPts val="2490"/>
              </a:lnSpc>
              <a:buFont typeface="Arial"/>
              <a:buChar char="•"/>
            </a:pPr>
            <a:r>
              <a:rPr lang="en-US" b="true" sz="2075">
                <a:solidFill>
                  <a:srgbClr val="8B5B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Adversarial Robustness &amp; Prompt Injection: </a:t>
            </a:r>
            <a:r>
              <a:rPr lang="en-US" sz="2075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Studied how scammers can craft payment notes to trick AI models. Designed structural defenses including strict note text isolation and a code-enforced policy invariant that prevents AI from overriding fixed safety rules.</a:t>
            </a:r>
          </a:p>
          <a:p>
            <a:pPr algn="l">
              <a:lnSpc>
                <a:spcPts val="249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9544456" y="2041445"/>
            <a:ext cx="697872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References / Sources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07357" y="3337169"/>
            <a:ext cx="6270482" cy="489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391" indent="-232196" lvl="1">
              <a:lnSpc>
                <a:spcPts val="2581"/>
              </a:lnSpc>
              <a:buFont typeface="Arial"/>
              <a:buChar char="•"/>
            </a:pPr>
            <a:r>
              <a:rPr lang="en-US" b="true" sz="2150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NPCI UPI Specifications </a:t>
            </a:r>
            <a:r>
              <a:rPr lang="en-US" sz="215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- </a:t>
            </a:r>
            <a:r>
              <a:rPr lang="en-US" sz="215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www.npci.org.in"/>
              </a:rPr>
              <a:t>https://www.npci.org.in</a:t>
            </a:r>
          </a:p>
          <a:p>
            <a:pPr algn="l" marL="464391" indent="-232196" lvl="1">
              <a:lnSpc>
                <a:spcPts val="2581"/>
              </a:lnSpc>
              <a:buFont typeface="Arial"/>
              <a:buChar char="•"/>
            </a:pPr>
            <a:r>
              <a:rPr lang="en-US" b="true" sz="2150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RBI: Digital Payment Security Guidelines </a:t>
            </a:r>
            <a:r>
              <a:rPr lang="en-US" sz="215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-</a:t>
            </a:r>
            <a:r>
              <a:rPr lang="en-US" sz="215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www.rbi.org.in"/>
              </a:rPr>
              <a:t> https://www.rbi.org.in</a:t>
            </a:r>
          </a:p>
          <a:p>
            <a:pPr algn="l" marL="464391" indent="-232196" lvl="1">
              <a:lnSpc>
                <a:spcPts val="2581"/>
              </a:lnSpc>
              <a:buFont typeface="Arial"/>
              <a:buChar char="•"/>
            </a:pPr>
            <a:r>
              <a:rPr lang="en-US" b="true" sz="2150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IEEE / ACM: Real-Time Fraud Detection </a:t>
            </a:r>
            <a:r>
              <a:rPr lang="en-US" sz="215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-</a:t>
            </a:r>
            <a:r>
              <a:rPr lang="en-US" sz="215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ieeexplore.ieee.org/Xplore/home.jsp"/>
              </a:rPr>
              <a:t> https://ieeexplore.ieee.org</a:t>
            </a:r>
          </a:p>
          <a:p>
            <a:pPr algn="l" marL="464391" indent="-232196" lvl="1">
              <a:lnSpc>
                <a:spcPts val="2581"/>
              </a:lnSpc>
              <a:buFont typeface="Arial"/>
              <a:buChar char="•"/>
            </a:pPr>
            <a:r>
              <a:rPr lang="en-US" b="true" sz="2150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I4C: National Cybercrime Advisory (Digital Arrest)</a:t>
            </a:r>
            <a:r>
              <a:rPr lang="en-US" sz="215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-</a:t>
            </a:r>
            <a:r>
              <a:rPr lang="en-US" sz="215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www.cybercrime.gov.in"/>
              </a:rPr>
              <a:t>https://www.cybercrime.gov.in</a:t>
            </a:r>
          </a:p>
          <a:p>
            <a:pPr algn="l" marL="464391" indent="-232196" lvl="1">
              <a:lnSpc>
                <a:spcPts val="2581"/>
              </a:lnSpc>
              <a:buFont typeface="Arial"/>
              <a:buChar char="•"/>
            </a:pPr>
            <a:r>
              <a:rPr lang="en-US" b="true" sz="2150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Explainable Agent Systems (arxiv 2607.11707v2) </a:t>
            </a:r>
            <a:r>
              <a:rPr lang="en-US" sz="215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- </a:t>
            </a:r>
            <a:r>
              <a:rPr lang="en-US" sz="215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arxiv.org/abs/2607.11707"/>
              </a:rPr>
              <a:t>https://arxiv.org/abs</a:t>
            </a:r>
          </a:p>
          <a:p>
            <a:pPr algn="l" marL="464391" indent="-232196" lvl="1">
              <a:lnSpc>
                <a:spcPts val="2581"/>
              </a:lnSpc>
              <a:buFont typeface="Arial"/>
              <a:buChar char="•"/>
            </a:pPr>
            <a:r>
              <a:rPr lang="en-US" b="true" sz="2150">
                <a:solidFill>
                  <a:srgbClr val="24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FTC Consumer Sentinel Fraud Reports</a:t>
            </a:r>
            <a:r>
              <a:rPr lang="en-US" sz="215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 - </a:t>
            </a:r>
            <a:r>
              <a:rPr lang="en-US" sz="215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www.ftc.gov/enforcement/consumer-sentinel-network"/>
              </a:rPr>
              <a:t>https://www.ftc.gov</a:t>
            </a:r>
          </a:p>
          <a:p>
            <a:pPr algn="l">
              <a:lnSpc>
                <a:spcPts val="2581"/>
              </a:lnSpc>
            </a:pPr>
          </a:p>
          <a:p>
            <a:pPr algn="l">
              <a:lnSpc>
                <a:spcPts val="2581"/>
              </a:lnSpc>
            </a:pPr>
          </a:p>
          <a:p>
            <a:pPr algn="l">
              <a:lnSpc>
                <a:spcPts val="2581"/>
              </a:lnSpc>
            </a:pPr>
          </a:p>
          <a:p>
            <a:pPr algn="l">
              <a:lnSpc>
                <a:spcPts val="258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2940" y="9679281"/>
            <a:ext cx="17022127" cy="28004"/>
            <a:chOff x="0" y="0"/>
            <a:chExt cx="22696170" cy="373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9654421" y="-7144"/>
            <a:ext cx="6227636" cy="10301288"/>
            <a:chOff x="0" y="0"/>
            <a:chExt cx="8303514" cy="13735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035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8303514">
                  <a:moveTo>
                    <a:pt x="0" y="0"/>
                  </a:moveTo>
                  <a:lnTo>
                    <a:pt x="8303514" y="0"/>
                  </a:lnTo>
                  <a:lnTo>
                    <a:pt x="83035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21110C"/>
            </a:solidFill>
            <a:ln w="14288" cap="sq">
              <a:solidFill>
                <a:srgbClr val="21110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361393" y="544563"/>
            <a:ext cx="9572625" cy="1431160"/>
            <a:chOff x="0" y="0"/>
            <a:chExt cx="12763500" cy="1908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3500" cy="1908214"/>
            </a:xfrm>
            <a:custGeom>
              <a:avLst/>
              <a:gdLst/>
              <a:ahLst/>
              <a:cxnLst/>
              <a:rect r="r" b="b" t="t" l="l"/>
              <a:pathLst>
                <a:path h="1908214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1908214"/>
                  </a:lnTo>
                  <a:lnTo>
                    <a:pt x="0" y="1908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29" r="0" b="-803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763500" cy="191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5EBD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Build With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37857" y="0"/>
            <a:ext cx="1422126" cy="1418170"/>
            <a:chOff x="0" y="0"/>
            <a:chExt cx="3424238" cy="3414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4301" cy="3414776"/>
            </a:xfrm>
            <a:custGeom>
              <a:avLst/>
              <a:gdLst/>
              <a:ahLst/>
              <a:cxnLst/>
              <a:rect r="r" b="b" t="t" l="l"/>
              <a:pathLst>
                <a:path h="3414776" w="3424301">
                  <a:moveTo>
                    <a:pt x="0" y="0"/>
                  </a:moveTo>
                  <a:lnTo>
                    <a:pt x="3424301" y="0"/>
                  </a:lnTo>
                  <a:lnTo>
                    <a:pt x="3424301" y="3414776"/>
                  </a:lnTo>
                  <a:lnTo>
                    <a:pt x="0" y="3414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5" t="0" r="-1173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0831" y="1256586"/>
            <a:ext cx="16265661" cy="3303584"/>
            <a:chOff x="0" y="0"/>
            <a:chExt cx="4283960" cy="87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3960" cy="870080"/>
            </a:xfrm>
            <a:custGeom>
              <a:avLst/>
              <a:gdLst/>
              <a:ahLst/>
              <a:cxnLst/>
              <a:rect r="r" b="b" t="t" l="l"/>
              <a:pathLst>
                <a:path h="870080" w="4283960">
                  <a:moveTo>
                    <a:pt x="7140" y="0"/>
                  </a:moveTo>
                  <a:lnTo>
                    <a:pt x="4276821" y="0"/>
                  </a:lnTo>
                  <a:cubicBezTo>
                    <a:pt x="4278714" y="0"/>
                    <a:pt x="4280530" y="752"/>
                    <a:pt x="4281869" y="2091"/>
                  </a:cubicBezTo>
                  <a:cubicBezTo>
                    <a:pt x="4283208" y="3430"/>
                    <a:pt x="4283960" y="5246"/>
                    <a:pt x="4283960" y="7140"/>
                  </a:cubicBezTo>
                  <a:lnTo>
                    <a:pt x="4283960" y="862940"/>
                  </a:lnTo>
                  <a:cubicBezTo>
                    <a:pt x="4283960" y="864834"/>
                    <a:pt x="4283208" y="866650"/>
                    <a:pt x="4281869" y="867989"/>
                  </a:cubicBezTo>
                  <a:cubicBezTo>
                    <a:pt x="4280530" y="869328"/>
                    <a:pt x="4278714" y="870080"/>
                    <a:pt x="4276821" y="870080"/>
                  </a:cubicBezTo>
                  <a:lnTo>
                    <a:pt x="7140" y="870080"/>
                  </a:lnTo>
                  <a:cubicBezTo>
                    <a:pt x="5246" y="870080"/>
                    <a:pt x="3430" y="869328"/>
                    <a:pt x="2091" y="867989"/>
                  </a:cubicBezTo>
                  <a:cubicBezTo>
                    <a:pt x="752" y="866650"/>
                    <a:pt x="0" y="864834"/>
                    <a:pt x="0" y="862940"/>
                  </a:cubicBezTo>
                  <a:lnTo>
                    <a:pt x="0" y="7140"/>
                  </a:lnTo>
                  <a:cubicBezTo>
                    <a:pt x="0" y="5246"/>
                    <a:pt x="752" y="3430"/>
                    <a:pt x="2091" y="2091"/>
                  </a:cubicBezTo>
                  <a:cubicBezTo>
                    <a:pt x="3430" y="752"/>
                    <a:pt x="5246" y="0"/>
                    <a:pt x="7140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283960" cy="870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41084" y="4907744"/>
            <a:ext cx="10217240" cy="4162008"/>
          </a:xfrm>
          <a:custGeom>
            <a:avLst/>
            <a:gdLst/>
            <a:ahLst/>
            <a:cxnLst/>
            <a:rect r="r" b="b" t="t" l="l"/>
            <a:pathLst>
              <a:path h="4162008" w="10217240">
                <a:moveTo>
                  <a:pt x="0" y="0"/>
                </a:moveTo>
                <a:lnTo>
                  <a:pt x="10217240" y="0"/>
                </a:lnTo>
                <a:lnTo>
                  <a:pt x="10217240" y="4162007"/>
                </a:lnTo>
                <a:lnTo>
                  <a:pt x="0" y="4162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310" r="0" b="-922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255635" y="9872817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6518" y="-10893743"/>
            <a:ext cx="9371886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14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KURUKSHETRA 2.0</a:t>
            </a:r>
            <a:r>
              <a:rPr lang="en-US" sz="4800" spc="14">
                <a:solidFill>
                  <a:srgbClr val="000000"/>
                </a:solidFill>
                <a:latin typeface="플라워"/>
                <a:ea typeface="플라워"/>
                <a:cs typeface="플라워"/>
                <a:sym typeface="플라워"/>
              </a:rPr>
              <a:t>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6518" y="-10215086"/>
            <a:ext cx="3692604" cy="70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12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HACKFEST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005893" y="525542"/>
            <a:ext cx="5532120" cy="142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5EB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62940" y="9829320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6912" y="320941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5595" y="1459155"/>
            <a:ext cx="15254478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874" indent="-218437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JavaScript | HTML5 | Custom CSS3 : </a:t>
            </a:r>
            <a:r>
              <a:rPr lang="en-US" sz="202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Powers a fast, zer</a:t>
            </a:r>
            <a:r>
              <a:rPr lang="en-US" sz="202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o-dependency Google Pay simulator, interactive payment flows, and live SOC observer dashboard.</a:t>
            </a:r>
          </a:p>
          <a:p>
            <a:pPr algn="l" marL="415284" indent="-207642" lvl="1">
              <a:lnSpc>
                <a:spcPts val="2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2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Python 3.11 | FastAPI | Uvicorn : </a:t>
            </a:r>
            <a:r>
              <a:rPr lang="en-US" sz="192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Drives the high-performance security gateway, connecting NPCI payment switch hooks with sub-10ms response times.</a:t>
            </a:r>
          </a:p>
          <a:p>
            <a:pPr algn="l" marL="415284" indent="-207642" lvl="1">
              <a:lnSpc>
                <a:spcPts val="2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2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FastMCP | Model Context Protocol :</a:t>
            </a:r>
            <a:r>
              <a:rPr lang="en-US" sz="192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Orchestrates out-of-band agentic interventions, generating contextual evidence reports and user warning screens for suspicious payments.</a:t>
            </a:r>
          </a:p>
          <a:p>
            <a:pPr algn="l" marL="415284" indent="-207642" lvl="1">
              <a:lnSpc>
                <a:spcPts val="2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2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SQLite | PostgreSQL | SQLAlchemy :</a:t>
            </a:r>
            <a:r>
              <a:rPr lang="en-US" sz="192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Manages Core Banking System (CBS) ledgers, user reputation scores, and append-only SHA-256 hash-chained audit logs.</a:t>
            </a:r>
          </a:p>
          <a:p>
            <a:pPr algn="l" marL="436874" indent="-218437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REST APIs | Pytest | SHA-256 Hashing :</a:t>
            </a:r>
            <a:r>
              <a:rPr lang="en-US" sz="202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Exposes public scam lookup tools, runs 28+ automated test suites, and provides tamper-evident regulatory records.</a:t>
            </a:r>
          </a:p>
          <a:p>
            <a:pPr algn="l">
              <a:lnSpc>
                <a:spcPts val="2308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1668808" y="4932906"/>
            <a:ext cx="5590492" cy="4024564"/>
            <a:chOff x="0" y="0"/>
            <a:chExt cx="1472393" cy="10599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72393" cy="1059968"/>
            </a:xfrm>
            <a:custGeom>
              <a:avLst/>
              <a:gdLst/>
              <a:ahLst/>
              <a:cxnLst/>
              <a:rect r="r" b="b" t="t" l="l"/>
              <a:pathLst>
                <a:path h="1059968" w="1472393">
                  <a:moveTo>
                    <a:pt x="20773" y="0"/>
                  </a:moveTo>
                  <a:lnTo>
                    <a:pt x="1451620" y="0"/>
                  </a:lnTo>
                  <a:cubicBezTo>
                    <a:pt x="1463093" y="0"/>
                    <a:pt x="1472393" y="9300"/>
                    <a:pt x="1472393" y="20773"/>
                  </a:cubicBezTo>
                  <a:lnTo>
                    <a:pt x="1472393" y="1039195"/>
                  </a:lnTo>
                  <a:cubicBezTo>
                    <a:pt x="1472393" y="1050667"/>
                    <a:pt x="1463093" y="1059968"/>
                    <a:pt x="1451620" y="1059968"/>
                  </a:cubicBezTo>
                  <a:lnTo>
                    <a:pt x="20773" y="1059968"/>
                  </a:lnTo>
                  <a:cubicBezTo>
                    <a:pt x="9300" y="1059968"/>
                    <a:pt x="0" y="1050667"/>
                    <a:pt x="0" y="1039195"/>
                  </a:cubicBezTo>
                  <a:lnTo>
                    <a:pt x="0" y="20773"/>
                  </a:lnTo>
                  <a:cubicBezTo>
                    <a:pt x="0" y="9300"/>
                    <a:pt x="9300" y="0"/>
                    <a:pt x="20773" y="0"/>
                  </a:cubicBezTo>
                  <a:close/>
                </a:path>
              </a:pathLst>
            </a:custGeom>
            <a:solidFill>
              <a:srgbClr val="F5EBD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472393" cy="1059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958342" y="5899499"/>
            <a:ext cx="697872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59"/>
              </a:lnSpc>
              <a:spcBef>
                <a:spcPct val="0"/>
              </a:spcBef>
            </a:pPr>
            <a:r>
              <a:rPr lang="en-US" b="true" sz="3299" strike="noStrike" u="none">
                <a:solidFill>
                  <a:srgbClr val="7A1128"/>
                </a:solidFill>
                <a:latin typeface="Cambria Bold"/>
                <a:ea typeface="Cambria Bold"/>
                <a:cs typeface="Cambria Bold"/>
                <a:sym typeface="Cambria Bold"/>
              </a:rPr>
              <a:t>GitHub Repository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120" y="6817709"/>
            <a:ext cx="3179173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sz="2420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repository URL: </a:t>
            </a:r>
            <a:r>
              <a:rPr lang="en-US" sz="2420" u="sng">
                <a:solidFill>
                  <a:srgbClr val="241014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github.com/Laukikrathod2007/KURUKSHETRA_2.0_HACKFEST"/>
              </a:rPr>
              <a:t>click here</a:t>
            </a: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37732" cy="10301288"/>
            <a:chOff x="0" y="0"/>
            <a:chExt cx="183642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2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183642">
                  <a:moveTo>
                    <a:pt x="0" y="0"/>
                  </a:moveTo>
                  <a:lnTo>
                    <a:pt x="183642" y="0"/>
                  </a:lnTo>
                  <a:lnTo>
                    <a:pt x="183642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C9993F"/>
            </a:solidFill>
            <a:ln w="14288" cap="sq">
              <a:solidFill>
                <a:srgbClr val="C9993F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5146893" y="9568339"/>
            <a:ext cx="2428875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MIT ACSC • ALANDI, PUNE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0076" y="9498044"/>
            <a:ext cx="17022127" cy="28004"/>
            <a:chOff x="0" y="0"/>
            <a:chExt cx="22696170" cy="373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6170" cy="37338"/>
            </a:xfrm>
            <a:custGeom>
              <a:avLst/>
              <a:gdLst/>
              <a:ahLst/>
              <a:cxnLst/>
              <a:rect r="r" b="b" t="t" l="l"/>
              <a:pathLst>
                <a:path h="37338" w="22696170">
                  <a:moveTo>
                    <a:pt x="0" y="0"/>
                  </a:moveTo>
                  <a:lnTo>
                    <a:pt x="22696170" y="0"/>
                  </a:lnTo>
                  <a:lnTo>
                    <a:pt x="2269617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8B5B24"/>
            </a:solidFill>
            <a:ln w="14288" cap="sq">
              <a:solidFill>
                <a:srgbClr val="8B5B2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9654421" y="-7144"/>
            <a:ext cx="6227636" cy="10301288"/>
            <a:chOff x="0" y="0"/>
            <a:chExt cx="8303514" cy="13735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035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8303514">
                  <a:moveTo>
                    <a:pt x="0" y="0"/>
                  </a:moveTo>
                  <a:lnTo>
                    <a:pt x="8303514" y="0"/>
                  </a:lnTo>
                  <a:lnTo>
                    <a:pt x="83035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21110C"/>
            </a:solidFill>
            <a:ln w="14288" cap="sq">
              <a:solidFill>
                <a:srgbClr val="21110C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716518" y="-10893743"/>
            <a:ext cx="9371886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14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KURUKSHETRA 2.0</a:t>
            </a:r>
            <a:r>
              <a:rPr lang="en-US" sz="4800" spc="14">
                <a:solidFill>
                  <a:srgbClr val="000000"/>
                </a:solidFill>
                <a:latin typeface="플라워"/>
                <a:ea typeface="플라워"/>
                <a:cs typeface="플라워"/>
                <a:sym typeface="플라워"/>
              </a:rPr>
              <a:t>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6518" y="-10215086"/>
            <a:ext cx="3692604" cy="70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12">
                <a:solidFill>
                  <a:srgbClr val="F5EBD2"/>
                </a:solidFill>
                <a:latin typeface="플라워"/>
                <a:ea typeface="플라워"/>
                <a:cs typeface="플라워"/>
                <a:sym typeface="플라워"/>
              </a:rPr>
              <a:t>HACKFEST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005893" y="525542"/>
            <a:ext cx="5532120" cy="142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5EB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20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4491285" y="203787"/>
            <a:ext cx="9239717" cy="9033091"/>
            <a:chOff x="0" y="0"/>
            <a:chExt cx="12319622" cy="12044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19635" cy="12044172"/>
            </a:xfrm>
            <a:custGeom>
              <a:avLst/>
              <a:gdLst/>
              <a:ahLst/>
              <a:cxnLst/>
              <a:rect r="r" b="b" t="t" l="l"/>
              <a:pathLst>
                <a:path h="12044172" w="12319635">
                  <a:moveTo>
                    <a:pt x="0" y="0"/>
                  </a:moveTo>
                  <a:lnTo>
                    <a:pt x="12319635" y="0"/>
                  </a:lnTo>
                  <a:lnTo>
                    <a:pt x="12319635" y="12044172"/>
                  </a:lnTo>
                  <a:lnTo>
                    <a:pt x="0" y="12044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</a:blip>
              <a:stretch>
                <a:fillRect l="-170" t="0" r="-17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2940" y="9568339"/>
            <a:ext cx="267891" cy="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47835" y="3622125"/>
            <a:ext cx="6238161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9"/>
              </a:lnSpc>
            </a:pPr>
            <a:r>
              <a:rPr lang="en-US" sz="9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9312" y="473341"/>
            <a:ext cx="2974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F5EBD2"/>
                </a:solidFill>
                <a:latin typeface="Aptos Bold"/>
                <a:ea typeface="Aptos Bold"/>
                <a:cs typeface="Aptos Bold"/>
                <a:sym typeface="Aptos Bold"/>
              </a:rPr>
              <a:t>Midnight Ciphers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DAHU6gpB3fU</dc:identifier>
  <dcterms:modified xsi:type="dcterms:W3CDTF">2011-08-01T06:04:30Z</dcterms:modified>
  <cp:revision>1</cp:revision>
  <dc:title>Kurukshetra_2.0_PPT_template.pptx</dc:title>
</cp:coreProperties>
</file>